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3" r:id="rId1"/>
  </p:sldMasterIdLst>
  <p:notesMasterIdLst>
    <p:notesMasterId r:id="rId15"/>
  </p:notesMasterIdLst>
  <p:sldIdLst>
    <p:sldId id="2147483453" r:id="rId2"/>
    <p:sldId id="2147483454" r:id="rId3"/>
    <p:sldId id="2147483455" r:id="rId4"/>
    <p:sldId id="2147483457" r:id="rId5"/>
    <p:sldId id="2147483458" r:id="rId6"/>
    <p:sldId id="2147483459" r:id="rId7"/>
    <p:sldId id="2147483460" r:id="rId8"/>
    <p:sldId id="2147483470" r:id="rId9"/>
    <p:sldId id="2147483461" r:id="rId10"/>
    <p:sldId id="2147483462" r:id="rId11"/>
    <p:sldId id="2147483463" r:id="rId12"/>
    <p:sldId id="2147483464" r:id="rId13"/>
    <p:sldId id="2147483466" r:id="rId14"/>
  </p:sldIdLst>
  <p:sldSz cx="12192000" cy="685800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998994-3BFF-41DC-99E5-7BAD15C6639E}" v="242" dt="2026-10-14T23:08:33.547"/>
    <p1510:client id="{C0CE6D08-A01E-4917-8709-731BA1FA63CA}" v="1" dt="2026-10-15T01:29:15.82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922" autoAdjust="0"/>
    <p:restoredTop sz="96712" autoAdjust="0"/>
  </p:normalViewPr>
  <p:slideViewPr>
    <p:cSldViewPr snapToGrid="0">
      <p:cViewPr varScale="1">
        <p:scale>
          <a:sx n="70" d="100"/>
          <a:sy n="70" d="100"/>
        </p:scale>
        <p:origin x="15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a, Arnab" userId="d7191fbc-c7c1-4f10-b110-776a52f16a65" providerId="ADAL" clId="{224FF509-854B-439F-AFAF-846B150903C0}"/>
    <pc:docChg chg="delSld">
      <pc:chgData name="Raha, Arnab" userId="d7191fbc-c7c1-4f10-b110-776a52f16a65" providerId="ADAL" clId="{224FF509-854B-439F-AFAF-846B150903C0}" dt="2026-10-15T03:19:15.950" v="0" actId="47"/>
      <pc:docMkLst>
        <pc:docMk/>
      </pc:docMkLst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0" sldId="256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841539468" sldId="2147483433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531860050" sldId="2147483437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291027267" sldId="2147483438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183968278" sldId="2147483439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427476187" sldId="2147483440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126362729" sldId="2147483441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866479125" sldId="2147483442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641418035" sldId="2147483443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899594116" sldId="2147483444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718484106" sldId="2147483445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590332510" sldId="2147483446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248008184" sldId="2147483447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334038840" sldId="2147483448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2828599675" sldId="2147483449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2296678678" sldId="2147483450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499051170" sldId="2147483451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3938818474" sldId="2147483452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100101532" sldId="2147483465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2720063952" sldId="2147483467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4260687507" sldId="2147483468"/>
        </pc:sldMkLst>
      </pc:sldChg>
      <pc:sldChg chg="del">
        <pc:chgData name="Raha, Arnab" userId="d7191fbc-c7c1-4f10-b110-776a52f16a65" providerId="ADAL" clId="{224FF509-854B-439F-AFAF-846B150903C0}" dt="2026-10-15T03:19:15.950" v="0" actId="47"/>
        <pc:sldMkLst>
          <pc:docMk/>
          <pc:sldMk cId="2547233214" sldId="2147483469"/>
        </pc:sldMkLst>
      </pc:sldChg>
      <pc:sldMasterChg chg="delSldLayout">
        <pc:chgData name="Raha, Arnab" userId="d7191fbc-c7c1-4f10-b110-776a52f16a65" providerId="ADAL" clId="{224FF509-854B-439F-AFAF-846B150903C0}" dt="2026-10-15T03:19:15.950" v="0" actId="47"/>
        <pc:sldMasterMkLst>
          <pc:docMk/>
          <pc:sldMasterMk cId="4036531254" sldId="2147483663"/>
        </pc:sldMasterMkLst>
        <pc:sldLayoutChg chg="del">
          <pc:chgData name="Raha, Arnab" userId="d7191fbc-c7c1-4f10-b110-776a52f16a65" providerId="ADAL" clId="{224FF509-854B-439F-AFAF-846B150903C0}" dt="2026-10-15T03:19:15.950" v="0" actId="47"/>
          <pc:sldLayoutMkLst>
            <pc:docMk/>
            <pc:sldMasterMk cId="4036531254" sldId="2147483663"/>
            <pc:sldLayoutMk cId="1877167282" sldId="214748374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75B3F7-6C32-4922-97DB-60C75747D527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88AD86-A836-48D9-AB98-FF198A8406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3479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88AD86-A836-48D9-AB98-FF198A84068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301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| Pattern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825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| Text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38">
            <a:extLst>
              <a:ext uri="{FF2B5EF4-FFF2-40B4-BE49-F238E27FC236}">
                <a16:creationId xmlns:a16="http://schemas.microsoft.com/office/drawing/2014/main" id="{C56D7DA7-665C-63F4-0C3E-EA3329DF4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rgbClr val="E9E9E9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3E30E6C8-E0DF-2834-59C5-08BD9FD8EEF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902287"/>
            <a:ext cx="11279188" cy="2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rgbClr val="7BDEFF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53" name="Content Placeholder 21">
            <a:extLst>
              <a:ext uri="{FF2B5EF4-FFF2-40B4-BE49-F238E27FC236}">
                <a16:creationId xmlns:a16="http://schemas.microsoft.com/office/drawing/2014/main" id="{A10006A8-A38D-ACD8-C0DC-E5108388574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4025" y="1341438"/>
            <a:ext cx="8380413" cy="4598987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  <a:lvl2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2pPr>
            <a:lvl3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3pPr>
            <a:lvl4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345F7A2-EEE9-032D-CBF9-CD84791C36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2044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| Title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B5BDC4E5-FEF9-D12E-C0D2-8688E26808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902287"/>
            <a:ext cx="11279188" cy="2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rgbClr val="7BDEFF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42" name="Title 41">
            <a:extLst>
              <a:ext uri="{FF2B5EF4-FFF2-40B4-BE49-F238E27FC236}">
                <a16:creationId xmlns:a16="http://schemas.microsoft.com/office/drawing/2014/main" id="{B5F7E4B5-CAA1-652F-B279-8E16C6755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005810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ntent | Empty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464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|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Text">
            <a:extLst>
              <a:ext uri="{FF2B5EF4-FFF2-40B4-BE49-F238E27FC236}">
                <a16:creationId xmlns:a16="http://schemas.microsoft.com/office/drawing/2014/main" id="{1774B9A3-7031-B1B9-1116-4166B7C4CFB8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54025" y="1341438"/>
            <a:ext cx="5489575" cy="2611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b">
            <a:noAutofit/>
          </a:bodyPr>
          <a:lstStyle>
            <a:lvl1pPr>
              <a:lnSpc>
                <a:spcPct val="79000"/>
              </a:lnSpc>
              <a:defRPr sz="6000"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Title of this divider layout</a:t>
            </a:r>
            <a:endParaRPr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8DCFBBD3-21E8-9BEC-D356-E6847418867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4025" y="4102438"/>
            <a:ext cx="5489575" cy="42827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 lang="en-US" sz="2400" b="0" i="0" spc="100" baseline="0" dirty="0">
                <a:solidFill>
                  <a:srgbClr val="7BDEFF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24pt </a:t>
            </a:r>
            <a:r>
              <a:rPr lang="en-US" err="1"/>
              <a:t>IntelOne</a:t>
            </a:r>
            <a:r>
              <a:rPr lang="en-US"/>
              <a:t> Display Subheading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A2EF3DA-F486-AA0D-560B-891C4278F574}"/>
              </a:ext>
            </a:extLst>
          </p:cNvPr>
          <p:cNvSpPr/>
          <p:nvPr userDrawn="1"/>
        </p:nvSpPr>
        <p:spPr>
          <a:xfrm>
            <a:off x="6237826" y="464811"/>
            <a:ext cx="5954174" cy="5934074"/>
          </a:xfrm>
          <a:prstGeom prst="rect">
            <a:avLst/>
          </a:prstGeom>
          <a:solidFill>
            <a:srgbClr val="0C0F1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 b="0" i="0">
              <a:solidFill>
                <a:srgbClr val="FFFFFF"/>
              </a:solidFill>
              <a:latin typeface="IntelOne Display Light" panose="020B0403020203020204" pitchFamily="34" charset="77"/>
              <a:ea typeface="Helvetica Neue Roman"/>
              <a:cs typeface="Helvetica Neue Roman"/>
            </a:endParaRP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37DD5C35-6743-53D2-84E8-8D7F1559430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37826" y="457200"/>
            <a:ext cx="5954174" cy="5483225"/>
          </a:xfrm>
          <a:prstGeom prst="rect">
            <a:avLst/>
          </a:prstGeom>
          <a:noFill/>
          <a:ln w="38100">
            <a:noFill/>
            <a:miter lim="800000"/>
          </a:ln>
        </p:spPr>
        <p:txBody>
          <a:bodyPr lIns="288000" tIns="288000" rIns="288000" anchor="t">
            <a:normAutofit/>
          </a:bodyPr>
          <a:lstStyle>
            <a:lvl1pPr algn="r">
              <a:lnSpc>
                <a:spcPct val="85000"/>
              </a:lnSpc>
              <a:defRPr sz="30000" b="0" i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IntelOne Display Light" panose="020B0403020203020204" pitchFamily="34" charset="77"/>
              </a:defRPr>
            </a:lvl1pPr>
            <a:lvl2pPr marL="7937" indent="0">
              <a:buNone/>
              <a:defRPr/>
            </a:lvl2pPr>
          </a:lstStyle>
          <a:p>
            <a:pPr lvl="0"/>
            <a:r>
              <a:rPr lang="en-GB"/>
              <a:t>00</a:t>
            </a:r>
          </a:p>
        </p:txBody>
      </p:sp>
      <p:sp>
        <p:nvSpPr>
          <p:cNvPr id="2" name="Footer Placeholder 11">
            <a:extLst>
              <a:ext uri="{FF2B5EF4-FFF2-40B4-BE49-F238E27FC236}">
                <a16:creationId xmlns:a16="http://schemas.microsoft.com/office/drawing/2014/main" id="{0BB0CFE7-84DF-A680-4B87-0188C7EC6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1179" y="6522757"/>
            <a:ext cx="5009642" cy="2132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algn="ctr" defTabSz="914400" rtl="0" eaLnBrk="1" latinLnBrk="0" hangingPunct="1">
              <a:defRPr lang="en-GB" sz="800" b="0" i="0" kern="1200" cap="all" spc="30" baseline="0" smtClean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endParaRPr lang="en-NL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CBDAE10-5D75-81DF-891A-7203B827C0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NL" sz="1000" b="0" i="0" kern="1200" smtClean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fld id="{2C387426-3E3D-1147-8365-BF949FCD81FA}" type="slidenum">
              <a:rPr lang="en-NL" smtClean="0"/>
              <a:pPr/>
              <a:t>‹#›</a:t>
            </a:fld>
            <a:endParaRPr lang="en-NL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7668C2F-F685-BC3A-BFEE-47BDDF9D422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87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|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Text">
            <a:extLst>
              <a:ext uri="{FF2B5EF4-FFF2-40B4-BE49-F238E27FC236}">
                <a16:creationId xmlns:a16="http://schemas.microsoft.com/office/drawing/2014/main" id="{27276AF6-7761-7ECB-D84C-2508B282F5FF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448205" y="457200"/>
            <a:ext cx="5495395" cy="3615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vert="horz" lIns="0" tIns="0" rIns="0" bIns="0" rtlCol="0" anchor="b">
            <a:noAutofit/>
          </a:bodyPr>
          <a:lstStyle>
            <a:lvl1pPr>
              <a:defRPr sz="4400" b="0" i="0" dirty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pPr lvl="0">
              <a:lnSpc>
                <a:spcPct val="80000"/>
              </a:lnSpc>
            </a:pPr>
            <a:r>
              <a:rPr lang="nl-NL"/>
              <a:t>Big quote or statement </a:t>
            </a:r>
            <a:r>
              <a:rPr lang="nl-NL" err="1"/>
              <a:t>goes</a:t>
            </a:r>
            <a:r>
              <a:rPr lang="nl-NL"/>
              <a:t> </a:t>
            </a:r>
            <a:r>
              <a:rPr lang="nl-NL" err="1"/>
              <a:t>here</a:t>
            </a:r>
            <a:endParaRPr lang="nl-NL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FFD41B72-4B16-837C-9C74-F80B85AC2DD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8205" y="4122234"/>
            <a:ext cx="5495395" cy="428279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IntelOne Display Light" panose="020B0403020203020204" pitchFamily="34" charset="77"/>
              </a:defRPr>
            </a:lvl1pPr>
          </a:lstStyle>
          <a:p>
            <a:r>
              <a:rPr lang="en-US"/>
              <a:t>Subtitle when needed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8FF683A-E430-9F34-4C4B-EC26173DDA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10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| Title Blu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48C9299A-243E-95ED-79FE-3601212B39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5" y="1943184"/>
            <a:ext cx="3697288" cy="8335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400" b="0" i="0">
                <a:solidFill>
                  <a:srgbClr val="00C7FD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14FF821-22B6-4049-4869-94978A06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6" y="651294"/>
            <a:ext cx="3697288" cy="1258529"/>
          </a:xfrm>
        </p:spPr>
        <p:txBody>
          <a:bodyPr/>
          <a:lstStyle>
            <a:lvl1pPr>
              <a:defRPr sz="4400"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</a:t>
            </a:r>
            <a:endParaRPr lang="en-NL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F081E11-4AB2-25A9-5B3C-5ADC1F8570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74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4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Content | Empty Carb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E3EFFDB4-6C80-9AE8-61B2-08C2C347AC0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5575" y="6526254"/>
            <a:ext cx="977900" cy="181332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4AF2CD8-32D2-56B8-66AC-0D7DEDB0015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4026" y="903438"/>
            <a:ext cx="3733800" cy="27855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FontTx/>
              <a:buNone/>
              <a:defRPr sz="2000" b="0" i="0">
                <a:solidFill>
                  <a:schemeClr val="accent6"/>
                </a:solidFill>
                <a:latin typeface="IntelOne Display Light" panose="020B0403020203020204" pitchFamily="34" charset="77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3" name="Title 41">
            <a:extLst>
              <a:ext uri="{FF2B5EF4-FFF2-40B4-BE49-F238E27FC236}">
                <a16:creationId xmlns:a16="http://schemas.microsoft.com/office/drawing/2014/main" id="{6E86920D-F5E8-28B1-F47B-E881A47B9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1270211"/>
            <a:ext cx="3733800" cy="2086739"/>
          </a:xfrm>
        </p:spPr>
        <p:txBody>
          <a:bodyPr/>
          <a:lstStyle>
            <a:lvl1pPr>
              <a:defRPr sz="4400" b="0" i="0">
                <a:solidFill>
                  <a:schemeClr val="bg1"/>
                </a:solidFill>
                <a:latin typeface="IntelOne Display Light" panose="020B0403020203020204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09468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C66A11-DE0A-4D15-8B44-CAC6B997F8AC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17DD7A-48B0-4CC6-8773-FE97D8357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89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BA0418-D0B8-4038-AB65-D4C12FC9E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025" y="402644"/>
            <a:ext cx="11279188" cy="48482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Click to edit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2F4DD64-8D8A-8B64-DE4D-878E53F05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4025" y="1341438"/>
            <a:ext cx="11280774" cy="459898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C786C6D8-BE60-6F31-894A-C8197832950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591179" y="6522757"/>
            <a:ext cx="5009642" cy="21328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NL" sz="800" b="0" i="0" kern="1200" cap="all" spc="30" baseline="0" dirty="0">
                <a:solidFill>
                  <a:schemeClr val="tx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2877047-E3CD-ED38-033E-E1B1542E54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00800"/>
            <a:ext cx="457200" cy="4572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ctr">
              <a:defRPr lang="en-NL" sz="1000" b="0" i="0" kern="1200" smtClean="0">
                <a:solidFill>
                  <a:schemeClr val="tx1"/>
                </a:solidFill>
                <a:latin typeface="IntelOne Display Light" panose="020B0403020203020204" pitchFamily="34" charset="77"/>
                <a:ea typeface="IntelOne Display Light" panose="020B0403020203020204" pitchFamily="34" charset="77"/>
                <a:cs typeface="Times New Roman" panose="02020603050405020304" pitchFamily="18" charset="0"/>
              </a:defRPr>
            </a:lvl1pPr>
          </a:lstStyle>
          <a:p>
            <a:fld id="{2C387426-3E3D-1147-8365-BF949FCD81FA}" type="slidenum">
              <a:rPr lang="en-NL" smtClean="0"/>
              <a:pPr/>
              <a:t>‹#›</a:t>
            </a:fld>
            <a:endParaRPr lang="en-NL"/>
          </a:p>
        </p:txBody>
      </p:sp>
      <p:grpSp>
        <p:nvGrpSpPr>
          <p:cNvPr id="8" name="Graphic 18">
            <a:extLst>
              <a:ext uri="{FF2B5EF4-FFF2-40B4-BE49-F238E27FC236}">
                <a16:creationId xmlns:a16="http://schemas.microsoft.com/office/drawing/2014/main" id="{7E506BD7-7C61-DADB-F8FA-F64025668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54025" y="6540316"/>
            <a:ext cx="475841" cy="178169"/>
            <a:chOff x="11137466" y="6554735"/>
            <a:chExt cx="475841" cy="178169"/>
          </a:xfrm>
          <a:solidFill>
            <a:schemeClr val="tx1"/>
          </a:solidFill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AF9DDF30-05ED-2FA4-DCBF-29DC1E097D81}"/>
                </a:ext>
              </a:extLst>
            </p:cNvPr>
            <p:cNvSpPr/>
            <p:nvPr/>
          </p:nvSpPr>
          <p:spPr>
            <a:xfrm>
              <a:off x="11137466" y="6557155"/>
              <a:ext cx="33285" cy="33285"/>
            </a:xfrm>
            <a:custGeom>
              <a:avLst/>
              <a:gdLst>
                <a:gd name="connsiteX0" fmla="*/ 0 w 33285"/>
                <a:gd name="connsiteY0" fmla="*/ 0 h 33285"/>
                <a:gd name="connsiteX1" fmla="*/ 33286 w 33285"/>
                <a:gd name="connsiteY1" fmla="*/ 0 h 33285"/>
                <a:gd name="connsiteX2" fmla="*/ 33286 w 33285"/>
                <a:gd name="connsiteY2" fmla="*/ 33286 h 33285"/>
                <a:gd name="connsiteX3" fmla="*/ 0 w 33285"/>
                <a:gd name="connsiteY3" fmla="*/ 33286 h 33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285" h="33285">
                  <a:moveTo>
                    <a:pt x="0" y="0"/>
                  </a:moveTo>
                  <a:lnTo>
                    <a:pt x="33286" y="0"/>
                  </a:lnTo>
                  <a:lnTo>
                    <a:pt x="33286" y="33286"/>
                  </a:lnTo>
                  <a:lnTo>
                    <a:pt x="0" y="33286"/>
                  </a:lnTo>
                  <a:close/>
                </a:path>
              </a:pathLst>
            </a:custGeom>
            <a:solidFill>
              <a:srgbClr val="0068B5"/>
            </a:solidFill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27605E26-4547-9039-CB03-71CCAC262A6B}"/>
                </a:ext>
              </a:extLst>
            </p:cNvPr>
            <p:cNvSpPr/>
            <p:nvPr/>
          </p:nvSpPr>
          <p:spPr>
            <a:xfrm>
              <a:off x="11138353" y="6554735"/>
              <a:ext cx="421536" cy="178169"/>
            </a:xfrm>
            <a:custGeom>
              <a:avLst/>
              <a:gdLst>
                <a:gd name="connsiteX0" fmla="*/ 31551 w 421536"/>
                <a:gd name="connsiteY0" fmla="*/ 55880 h 178169"/>
                <a:gd name="connsiteX1" fmla="*/ 0 w 421536"/>
                <a:gd name="connsiteY1" fmla="*/ 55880 h 178169"/>
                <a:gd name="connsiteX2" fmla="*/ 0 w 421536"/>
                <a:gd name="connsiteY2" fmla="*/ 175668 h 178169"/>
                <a:gd name="connsiteX3" fmla="*/ 31551 w 421536"/>
                <a:gd name="connsiteY3" fmla="*/ 175668 h 178169"/>
                <a:gd name="connsiteX4" fmla="*/ 31551 w 421536"/>
                <a:gd name="connsiteY4" fmla="*/ 55880 h 178169"/>
                <a:gd name="connsiteX5" fmla="*/ 240705 w 421536"/>
                <a:gd name="connsiteY5" fmla="*/ 176878 h 178169"/>
                <a:gd name="connsiteX6" fmla="*/ 240705 w 421536"/>
                <a:gd name="connsiteY6" fmla="*/ 147506 h 178169"/>
                <a:gd name="connsiteX7" fmla="*/ 229287 w 421536"/>
                <a:gd name="connsiteY7" fmla="*/ 146780 h 178169"/>
                <a:gd name="connsiteX8" fmla="*/ 221863 w 421536"/>
                <a:gd name="connsiteY8" fmla="*/ 143512 h 178169"/>
                <a:gd name="connsiteX9" fmla="*/ 218595 w 421536"/>
                <a:gd name="connsiteY9" fmla="*/ 136371 h 178169"/>
                <a:gd name="connsiteX10" fmla="*/ 217869 w 421536"/>
                <a:gd name="connsiteY10" fmla="*/ 124791 h 178169"/>
                <a:gd name="connsiteX11" fmla="*/ 217869 w 421536"/>
                <a:gd name="connsiteY11" fmla="*/ 82871 h 178169"/>
                <a:gd name="connsiteX12" fmla="*/ 240705 w 421536"/>
                <a:gd name="connsiteY12" fmla="*/ 82871 h 178169"/>
                <a:gd name="connsiteX13" fmla="*/ 240705 w 421536"/>
                <a:gd name="connsiteY13" fmla="*/ 55880 h 178169"/>
                <a:gd name="connsiteX14" fmla="*/ 217869 w 421536"/>
                <a:gd name="connsiteY14" fmla="*/ 55880 h 178169"/>
                <a:gd name="connsiteX15" fmla="*/ 217869 w 421536"/>
                <a:gd name="connsiteY15" fmla="*/ 9239 h 178169"/>
                <a:gd name="connsiteX16" fmla="*/ 186318 w 421536"/>
                <a:gd name="connsiteY16" fmla="*/ 9239 h 178169"/>
                <a:gd name="connsiteX17" fmla="*/ 186318 w 421536"/>
                <a:gd name="connsiteY17" fmla="*/ 125033 h 178169"/>
                <a:gd name="connsiteX18" fmla="*/ 188860 w 421536"/>
                <a:gd name="connsiteY18" fmla="*/ 149725 h 178169"/>
                <a:gd name="connsiteX19" fmla="*/ 197252 w 421536"/>
                <a:gd name="connsiteY19" fmla="*/ 165622 h 178169"/>
                <a:gd name="connsiteX20" fmla="*/ 212664 w 421536"/>
                <a:gd name="connsiteY20" fmla="*/ 174256 h 178169"/>
                <a:gd name="connsiteX21" fmla="*/ 236751 w 421536"/>
                <a:gd name="connsiteY21" fmla="*/ 176919 h 178169"/>
                <a:gd name="connsiteX22" fmla="*/ 240705 w 421536"/>
                <a:gd name="connsiteY22" fmla="*/ 176919 h 178169"/>
                <a:gd name="connsiteX23" fmla="*/ 421536 w 421536"/>
                <a:gd name="connsiteY23" fmla="*/ 0 h 178169"/>
                <a:gd name="connsiteX24" fmla="*/ 389985 w 421536"/>
                <a:gd name="connsiteY24" fmla="*/ 0 h 178169"/>
                <a:gd name="connsiteX25" fmla="*/ 389985 w 421536"/>
                <a:gd name="connsiteY25" fmla="*/ 175668 h 178169"/>
                <a:gd name="connsiteX26" fmla="*/ 421536 w 421536"/>
                <a:gd name="connsiteY26" fmla="*/ 175668 h 178169"/>
                <a:gd name="connsiteX27" fmla="*/ 421536 w 421536"/>
                <a:gd name="connsiteY27" fmla="*/ 0 h 178169"/>
                <a:gd name="connsiteX28" fmla="*/ 155857 w 421536"/>
                <a:gd name="connsiteY28" fmla="*/ 67701 h 178169"/>
                <a:gd name="connsiteX29" fmla="*/ 119142 w 421536"/>
                <a:gd name="connsiteY29" fmla="*/ 53459 h 178169"/>
                <a:gd name="connsiteX30" fmla="*/ 98444 w 421536"/>
                <a:gd name="connsiteY30" fmla="*/ 58058 h 178169"/>
                <a:gd name="connsiteX31" fmla="*/ 82750 w 421536"/>
                <a:gd name="connsiteY31" fmla="*/ 70848 h 178169"/>
                <a:gd name="connsiteX32" fmla="*/ 81015 w 421536"/>
                <a:gd name="connsiteY32" fmla="*/ 73067 h 178169"/>
                <a:gd name="connsiteX33" fmla="*/ 81015 w 421536"/>
                <a:gd name="connsiteY33" fmla="*/ 71090 h 178169"/>
                <a:gd name="connsiteX34" fmla="*/ 81015 w 421536"/>
                <a:gd name="connsiteY34" fmla="*/ 55920 h 178169"/>
                <a:gd name="connsiteX35" fmla="*/ 49948 w 421536"/>
                <a:gd name="connsiteY35" fmla="*/ 55920 h 178169"/>
                <a:gd name="connsiteX36" fmla="*/ 49948 w 421536"/>
                <a:gd name="connsiteY36" fmla="*/ 175708 h 178169"/>
                <a:gd name="connsiteX37" fmla="*/ 81297 w 421536"/>
                <a:gd name="connsiteY37" fmla="*/ 175708 h 178169"/>
                <a:gd name="connsiteX38" fmla="*/ 81297 w 421536"/>
                <a:gd name="connsiteY38" fmla="*/ 111880 h 178169"/>
                <a:gd name="connsiteX39" fmla="*/ 81338 w 421536"/>
                <a:gd name="connsiteY39" fmla="*/ 116319 h 178169"/>
                <a:gd name="connsiteX40" fmla="*/ 81378 w 421536"/>
                <a:gd name="connsiteY40" fmla="*/ 114180 h 178169"/>
                <a:gd name="connsiteX41" fmla="*/ 89689 w 421536"/>
                <a:gd name="connsiteY41" fmla="*/ 89327 h 178169"/>
                <a:gd name="connsiteX42" fmla="*/ 109701 w 421536"/>
                <a:gd name="connsiteY42" fmla="*/ 80814 h 178169"/>
                <a:gd name="connsiteX43" fmla="*/ 130358 w 421536"/>
                <a:gd name="connsiteY43" fmla="*/ 89125 h 178169"/>
                <a:gd name="connsiteX44" fmla="*/ 137217 w 421536"/>
                <a:gd name="connsiteY44" fmla="*/ 112082 h 178169"/>
                <a:gd name="connsiteX45" fmla="*/ 137217 w 421536"/>
                <a:gd name="connsiteY45" fmla="*/ 112082 h 178169"/>
                <a:gd name="connsiteX46" fmla="*/ 137217 w 421536"/>
                <a:gd name="connsiteY46" fmla="*/ 112324 h 178169"/>
                <a:gd name="connsiteX47" fmla="*/ 137217 w 421536"/>
                <a:gd name="connsiteY47" fmla="*/ 112365 h 178169"/>
                <a:gd name="connsiteX48" fmla="*/ 137217 w 421536"/>
                <a:gd name="connsiteY48" fmla="*/ 175708 h 178169"/>
                <a:gd name="connsiteX49" fmla="*/ 169050 w 421536"/>
                <a:gd name="connsiteY49" fmla="*/ 175708 h 178169"/>
                <a:gd name="connsiteX50" fmla="*/ 169050 w 421536"/>
                <a:gd name="connsiteY50" fmla="*/ 107684 h 178169"/>
                <a:gd name="connsiteX51" fmla="*/ 155857 w 421536"/>
                <a:gd name="connsiteY51" fmla="*/ 67701 h 178169"/>
                <a:gd name="connsiteX52" fmla="*/ 373524 w 421536"/>
                <a:gd name="connsiteY52" fmla="*/ 115552 h 178169"/>
                <a:gd name="connsiteX53" fmla="*/ 368965 w 421536"/>
                <a:gd name="connsiteY53" fmla="*/ 91344 h 178169"/>
                <a:gd name="connsiteX54" fmla="*/ 356256 w 421536"/>
                <a:gd name="connsiteY54" fmla="*/ 71574 h 178169"/>
                <a:gd name="connsiteX55" fmla="*/ 336729 w 421536"/>
                <a:gd name="connsiteY55" fmla="*/ 58300 h 178169"/>
                <a:gd name="connsiteX56" fmla="*/ 311674 w 421536"/>
                <a:gd name="connsiteY56" fmla="*/ 53499 h 178169"/>
                <a:gd name="connsiteX57" fmla="*/ 287345 w 421536"/>
                <a:gd name="connsiteY57" fmla="*/ 58422 h 178169"/>
                <a:gd name="connsiteX58" fmla="*/ 267575 w 421536"/>
                <a:gd name="connsiteY58" fmla="*/ 71736 h 178169"/>
                <a:gd name="connsiteX59" fmla="*/ 254261 w 421536"/>
                <a:gd name="connsiteY59" fmla="*/ 91506 h 178169"/>
                <a:gd name="connsiteX60" fmla="*/ 249339 w 421536"/>
                <a:gd name="connsiteY60" fmla="*/ 115834 h 178169"/>
                <a:gd name="connsiteX61" fmla="*/ 254019 w 421536"/>
                <a:gd name="connsiteY61" fmla="*/ 140163 h 178169"/>
                <a:gd name="connsiteX62" fmla="*/ 266970 w 421536"/>
                <a:gd name="connsiteY62" fmla="*/ 159933 h 178169"/>
                <a:gd name="connsiteX63" fmla="*/ 286982 w 421536"/>
                <a:gd name="connsiteY63" fmla="*/ 173247 h 178169"/>
                <a:gd name="connsiteX64" fmla="*/ 312642 w 421536"/>
                <a:gd name="connsiteY64" fmla="*/ 178170 h 178169"/>
                <a:gd name="connsiteX65" fmla="*/ 365939 w 421536"/>
                <a:gd name="connsiteY65" fmla="*/ 154648 h 178169"/>
                <a:gd name="connsiteX66" fmla="*/ 343224 w 421536"/>
                <a:gd name="connsiteY66" fmla="*/ 137339 h 178169"/>
                <a:gd name="connsiteX67" fmla="*/ 312884 w 421536"/>
                <a:gd name="connsiteY67" fmla="*/ 150734 h 178169"/>
                <a:gd name="connsiteX68" fmla="*/ 291097 w 421536"/>
                <a:gd name="connsiteY68" fmla="*/ 144601 h 178169"/>
                <a:gd name="connsiteX69" fmla="*/ 279720 w 421536"/>
                <a:gd name="connsiteY69" fmla="*/ 127979 h 178169"/>
                <a:gd name="connsiteX70" fmla="*/ 279397 w 421536"/>
                <a:gd name="connsiteY70" fmla="*/ 126849 h 178169"/>
                <a:gd name="connsiteX71" fmla="*/ 373524 w 421536"/>
                <a:gd name="connsiteY71" fmla="*/ 126849 h 178169"/>
                <a:gd name="connsiteX72" fmla="*/ 373524 w 421536"/>
                <a:gd name="connsiteY72" fmla="*/ 115552 h 178169"/>
                <a:gd name="connsiteX73" fmla="*/ 279720 w 421536"/>
                <a:gd name="connsiteY73" fmla="*/ 104537 h 178169"/>
                <a:gd name="connsiteX74" fmla="*/ 311472 w 421536"/>
                <a:gd name="connsiteY74" fmla="*/ 80451 h 178169"/>
                <a:gd name="connsiteX75" fmla="*/ 343265 w 421536"/>
                <a:gd name="connsiteY75" fmla="*/ 104497 h 178169"/>
                <a:gd name="connsiteX76" fmla="*/ 279720 w 421536"/>
                <a:gd name="connsiteY76" fmla="*/ 104537 h 178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421536" h="178169">
                  <a:moveTo>
                    <a:pt x="31551" y="55880"/>
                  </a:moveTo>
                  <a:lnTo>
                    <a:pt x="0" y="55880"/>
                  </a:lnTo>
                  <a:lnTo>
                    <a:pt x="0" y="175668"/>
                  </a:lnTo>
                  <a:lnTo>
                    <a:pt x="31551" y="175668"/>
                  </a:lnTo>
                  <a:lnTo>
                    <a:pt x="31551" y="55880"/>
                  </a:lnTo>
                  <a:close/>
                  <a:moveTo>
                    <a:pt x="240705" y="176878"/>
                  </a:moveTo>
                  <a:lnTo>
                    <a:pt x="240705" y="147506"/>
                  </a:lnTo>
                  <a:cubicBezTo>
                    <a:pt x="236065" y="147466"/>
                    <a:pt x="232232" y="147224"/>
                    <a:pt x="229287" y="146780"/>
                  </a:cubicBezTo>
                  <a:cubicBezTo>
                    <a:pt x="226019" y="146256"/>
                    <a:pt x="223517" y="145166"/>
                    <a:pt x="221863" y="143512"/>
                  </a:cubicBezTo>
                  <a:cubicBezTo>
                    <a:pt x="220209" y="141858"/>
                    <a:pt x="219120" y="139437"/>
                    <a:pt x="218595" y="136371"/>
                  </a:cubicBezTo>
                  <a:cubicBezTo>
                    <a:pt x="218111" y="133425"/>
                    <a:pt x="217869" y="129512"/>
                    <a:pt x="217869" y="124791"/>
                  </a:cubicBezTo>
                  <a:lnTo>
                    <a:pt x="217869" y="82871"/>
                  </a:lnTo>
                  <a:lnTo>
                    <a:pt x="240705" y="82871"/>
                  </a:lnTo>
                  <a:lnTo>
                    <a:pt x="240705" y="55880"/>
                  </a:lnTo>
                  <a:lnTo>
                    <a:pt x="217869" y="55880"/>
                  </a:lnTo>
                  <a:lnTo>
                    <a:pt x="217869" y="9239"/>
                  </a:lnTo>
                  <a:lnTo>
                    <a:pt x="186318" y="9239"/>
                  </a:lnTo>
                  <a:lnTo>
                    <a:pt x="186318" y="125033"/>
                  </a:lnTo>
                  <a:cubicBezTo>
                    <a:pt x="186318" y="134797"/>
                    <a:pt x="187166" y="143109"/>
                    <a:pt x="188860" y="149725"/>
                  </a:cubicBezTo>
                  <a:cubicBezTo>
                    <a:pt x="190514" y="156261"/>
                    <a:pt x="193339" y="161628"/>
                    <a:pt x="197252" y="165622"/>
                  </a:cubicBezTo>
                  <a:cubicBezTo>
                    <a:pt x="201166" y="169616"/>
                    <a:pt x="206370" y="172521"/>
                    <a:pt x="212664" y="174256"/>
                  </a:cubicBezTo>
                  <a:cubicBezTo>
                    <a:pt x="219039" y="175991"/>
                    <a:pt x="227149" y="176919"/>
                    <a:pt x="236751" y="176919"/>
                  </a:cubicBezTo>
                  <a:lnTo>
                    <a:pt x="240705" y="176919"/>
                  </a:lnTo>
                  <a:close/>
                  <a:moveTo>
                    <a:pt x="421536" y="0"/>
                  </a:moveTo>
                  <a:lnTo>
                    <a:pt x="389985" y="0"/>
                  </a:lnTo>
                  <a:lnTo>
                    <a:pt x="389985" y="175668"/>
                  </a:lnTo>
                  <a:lnTo>
                    <a:pt x="421536" y="175668"/>
                  </a:lnTo>
                  <a:lnTo>
                    <a:pt x="421536" y="0"/>
                  </a:lnTo>
                  <a:close/>
                  <a:moveTo>
                    <a:pt x="155857" y="67701"/>
                  </a:moveTo>
                  <a:cubicBezTo>
                    <a:pt x="147102" y="58260"/>
                    <a:pt x="134756" y="53459"/>
                    <a:pt x="119142" y="53459"/>
                  </a:cubicBezTo>
                  <a:cubicBezTo>
                    <a:pt x="111597" y="53459"/>
                    <a:pt x="104658" y="55032"/>
                    <a:pt x="98444" y="58058"/>
                  </a:cubicBezTo>
                  <a:cubicBezTo>
                    <a:pt x="92231" y="61125"/>
                    <a:pt x="86946" y="65442"/>
                    <a:pt x="82750" y="70848"/>
                  </a:cubicBezTo>
                  <a:lnTo>
                    <a:pt x="81015" y="73067"/>
                  </a:lnTo>
                  <a:lnTo>
                    <a:pt x="81015" y="71090"/>
                  </a:lnTo>
                  <a:lnTo>
                    <a:pt x="81015" y="55920"/>
                  </a:lnTo>
                  <a:lnTo>
                    <a:pt x="49948" y="55920"/>
                  </a:lnTo>
                  <a:lnTo>
                    <a:pt x="49948" y="175708"/>
                  </a:lnTo>
                  <a:lnTo>
                    <a:pt x="81297" y="175708"/>
                  </a:lnTo>
                  <a:lnTo>
                    <a:pt x="81297" y="111880"/>
                  </a:lnTo>
                  <a:lnTo>
                    <a:pt x="81338" y="116319"/>
                  </a:lnTo>
                  <a:cubicBezTo>
                    <a:pt x="81338" y="115592"/>
                    <a:pt x="81338" y="114866"/>
                    <a:pt x="81378" y="114180"/>
                  </a:cubicBezTo>
                  <a:cubicBezTo>
                    <a:pt x="81701" y="103004"/>
                    <a:pt x="84485" y="94653"/>
                    <a:pt x="89689" y="89327"/>
                  </a:cubicBezTo>
                  <a:cubicBezTo>
                    <a:pt x="95217" y="83678"/>
                    <a:pt x="101955" y="80814"/>
                    <a:pt x="109701" y="80814"/>
                  </a:cubicBezTo>
                  <a:cubicBezTo>
                    <a:pt x="118819" y="80814"/>
                    <a:pt x="125759" y="83598"/>
                    <a:pt x="130358" y="89125"/>
                  </a:cubicBezTo>
                  <a:cubicBezTo>
                    <a:pt x="134877" y="94532"/>
                    <a:pt x="137177" y="102238"/>
                    <a:pt x="137217" y="112082"/>
                  </a:cubicBezTo>
                  <a:lnTo>
                    <a:pt x="137217" y="112082"/>
                  </a:lnTo>
                  <a:lnTo>
                    <a:pt x="137217" y="112324"/>
                  </a:lnTo>
                  <a:lnTo>
                    <a:pt x="137217" y="112365"/>
                  </a:lnTo>
                  <a:lnTo>
                    <a:pt x="137217" y="175708"/>
                  </a:lnTo>
                  <a:lnTo>
                    <a:pt x="169050" y="175708"/>
                  </a:lnTo>
                  <a:lnTo>
                    <a:pt x="169050" y="107684"/>
                  </a:lnTo>
                  <a:cubicBezTo>
                    <a:pt x="169091" y="90618"/>
                    <a:pt x="164612" y="77142"/>
                    <a:pt x="155857" y="67701"/>
                  </a:cubicBezTo>
                  <a:moveTo>
                    <a:pt x="373524" y="115552"/>
                  </a:moveTo>
                  <a:cubicBezTo>
                    <a:pt x="373524" y="106958"/>
                    <a:pt x="371991" y="98808"/>
                    <a:pt x="368965" y="91344"/>
                  </a:cubicBezTo>
                  <a:cubicBezTo>
                    <a:pt x="365939" y="83880"/>
                    <a:pt x="361662" y="77223"/>
                    <a:pt x="356256" y="71574"/>
                  </a:cubicBezTo>
                  <a:cubicBezTo>
                    <a:pt x="350850" y="65926"/>
                    <a:pt x="344273" y="61448"/>
                    <a:pt x="336729" y="58300"/>
                  </a:cubicBezTo>
                  <a:cubicBezTo>
                    <a:pt x="329184" y="55113"/>
                    <a:pt x="320752" y="53499"/>
                    <a:pt x="311674" y="53499"/>
                  </a:cubicBezTo>
                  <a:cubicBezTo>
                    <a:pt x="303080" y="53499"/>
                    <a:pt x="294890" y="55153"/>
                    <a:pt x="287345" y="58422"/>
                  </a:cubicBezTo>
                  <a:cubicBezTo>
                    <a:pt x="279800" y="61690"/>
                    <a:pt x="273143" y="66168"/>
                    <a:pt x="267575" y="71736"/>
                  </a:cubicBezTo>
                  <a:cubicBezTo>
                    <a:pt x="262008" y="77304"/>
                    <a:pt x="257529" y="83961"/>
                    <a:pt x="254261" y="91506"/>
                  </a:cubicBezTo>
                  <a:cubicBezTo>
                    <a:pt x="250993" y="99050"/>
                    <a:pt x="249339" y="107241"/>
                    <a:pt x="249339" y="115834"/>
                  </a:cubicBezTo>
                  <a:cubicBezTo>
                    <a:pt x="249339" y="124428"/>
                    <a:pt x="250912" y="132619"/>
                    <a:pt x="254019" y="140163"/>
                  </a:cubicBezTo>
                  <a:cubicBezTo>
                    <a:pt x="257126" y="147708"/>
                    <a:pt x="261483" y="154365"/>
                    <a:pt x="266970" y="159933"/>
                  </a:cubicBezTo>
                  <a:cubicBezTo>
                    <a:pt x="272457" y="165501"/>
                    <a:pt x="279195" y="169979"/>
                    <a:pt x="286982" y="173247"/>
                  </a:cubicBezTo>
                  <a:cubicBezTo>
                    <a:pt x="294769" y="176515"/>
                    <a:pt x="303403" y="178170"/>
                    <a:pt x="312642" y="178170"/>
                  </a:cubicBezTo>
                  <a:cubicBezTo>
                    <a:pt x="339351" y="178170"/>
                    <a:pt x="355974" y="166025"/>
                    <a:pt x="365939" y="154648"/>
                  </a:cubicBezTo>
                  <a:lnTo>
                    <a:pt x="343224" y="137339"/>
                  </a:lnTo>
                  <a:cubicBezTo>
                    <a:pt x="338423" y="143028"/>
                    <a:pt x="327086" y="150734"/>
                    <a:pt x="312884" y="150734"/>
                  </a:cubicBezTo>
                  <a:cubicBezTo>
                    <a:pt x="303968" y="150734"/>
                    <a:pt x="296665" y="148676"/>
                    <a:pt x="291097" y="144601"/>
                  </a:cubicBezTo>
                  <a:cubicBezTo>
                    <a:pt x="285529" y="140526"/>
                    <a:pt x="281697" y="134959"/>
                    <a:pt x="279720" y="127979"/>
                  </a:cubicBezTo>
                  <a:lnTo>
                    <a:pt x="279397" y="126849"/>
                  </a:lnTo>
                  <a:lnTo>
                    <a:pt x="373524" y="126849"/>
                  </a:lnTo>
                  <a:lnTo>
                    <a:pt x="373524" y="115552"/>
                  </a:lnTo>
                  <a:close/>
                  <a:moveTo>
                    <a:pt x="279720" y="104537"/>
                  </a:moveTo>
                  <a:cubicBezTo>
                    <a:pt x="279720" y="95782"/>
                    <a:pt x="289766" y="80451"/>
                    <a:pt x="311472" y="80451"/>
                  </a:cubicBezTo>
                  <a:cubicBezTo>
                    <a:pt x="333178" y="80451"/>
                    <a:pt x="343265" y="95742"/>
                    <a:pt x="343265" y="104497"/>
                  </a:cubicBezTo>
                  <a:lnTo>
                    <a:pt x="279720" y="104537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18374D-01B8-328C-1AB0-27E05DECD127}"/>
                </a:ext>
              </a:extLst>
            </p:cNvPr>
            <p:cNvSpPr/>
            <p:nvPr/>
          </p:nvSpPr>
          <p:spPr>
            <a:xfrm>
              <a:off x="11579820" y="6697641"/>
              <a:ext cx="33487" cy="33487"/>
            </a:xfrm>
            <a:custGeom>
              <a:avLst/>
              <a:gdLst>
                <a:gd name="connsiteX0" fmla="*/ 16744 w 33487"/>
                <a:gd name="connsiteY0" fmla="*/ 2380 h 33487"/>
                <a:gd name="connsiteX1" fmla="*/ 31107 w 33487"/>
                <a:gd name="connsiteY1" fmla="*/ 16744 h 33487"/>
                <a:gd name="connsiteX2" fmla="*/ 16744 w 33487"/>
                <a:gd name="connsiteY2" fmla="*/ 31107 h 33487"/>
                <a:gd name="connsiteX3" fmla="*/ 2380 w 33487"/>
                <a:gd name="connsiteY3" fmla="*/ 16744 h 33487"/>
                <a:gd name="connsiteX4" fmla="*/ 16744 w 33487"/>
                <a:gd name="connsiteY4" fmla="*/ 2380 h 33487"/>
                <a:gd name="connsiteX5" fmla="*/ 16744 w 33487"/>
                <a:gd name="connsiteY5" fmla="*/ 0 h 33487"/>
                <a:gd name="connsiteX6" fmla="*/ 0 w 33487"/>
                <a:gd name="connsiteY6" fmla="*/ 16744 h 33487"/>
                <a:gd name="connsiteX7" fmla="*/ 16744 w 33487"/>
                <a:gd name="connsiteY7" fmla="*/ 33487 h 33487"/>
                <a:gd name="connsiteX8" fmla="*/ 33487 w 33487"/>
                <a:gd name="connsiteY8" fmla="*/ 16744 h 33487"/>
                <a:gd name="connsiteX9" fmla="*/ 16744 w 33487"/>
                <a:gd name="connsiteY9" fmla="*/ 0 h 33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3487" h="33487">
                  <a:moveTo>
                    <a:pt x="16744" y="2380"/>
                  </a:moveTo>
                  <a:cubicBezTo>
                    <a:pt x="24651" y="2380"/>
                    <a:pt x="31107" y="8836"/>
                    <a:pt x="31107" y="16744"/>
                  </a:cubicBezTo>
                  <a:cubicBezTo>
                    <a:pt x="31107" y="24652"/>
                    <a:pt x="24651" y="31107"/>
                    <a:pt x="16744" y="31107"/>
                  </a:cubicBezTo>
                  <a:cubicBezTo>
                    <a:pt x="8836" y="31107"/>
                    <a:pt x="2380" y="24652"/>
                    <a:pt x="2380" y="16744"/>
                  </a:cubicBezTo>
                  <a:cubicBezTo>
                    <a:pt x="2380" y="8836"/>
                    <a:pt x="8836" y="2380"/>
                    <a:pt x="16744" y="2380"/>
                  </a:cubicBezTo>
                  <a:moveTo>
                    <a:pt x="16744" y="0"/>
                  </a:moveTo>
                  <a:cubicBezTo>
                    <a:pt x="7504" y="0"/>
                    <a:pt x="0" y="7504"/>
                    <a:pt x="0" y="16744"/>
                  </a:cubicBezTo>
                  <a:cubicBezTo>
                    <a:pt x="0" y="25983"/>
                    <a:pt x="7504" y="33487"/>
                    <a:pt x="16744" y="33487"/>
                  </a:cubicBezTo>
                  <a:cubicBezTo>
                    <a:pt x="25983" y="33487"/>
                    <a:pt x="33487" y="25983"/>
                    <a:pt x="33487" y="16744"/>
                  </a:cubicBezTo>
                  <a:cubicBezTo>
                    <a:pt x="33487" y="7504"/>
                    <a:pt x="25983" y="0"/>
                    <a:pt x="16744" y="0"/>
                  </a:cubicBezTo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5F70B3B1-E366-BEF7-E678-92B60D8939D3}"/>
                </a:ext>
              </a:extLst>
            </p:cNvPr>
            <p:cNvSpPr/>
            <p:nvPr/>
          </p:nvSpPr>
          <p:spPr>
            <a:xfrm>
              <a:off x="11590875" y="6705953"/>
              <a:ext cx="13031" cy="16743"/>
            </a:xfrm>
            <a:custGeom>
              <a:avLst/>
              <a:gdLst>
                <a:gd name="connsiteX0" fmla="*/ 6940 w 13031"/>
                <a:gd name="connsiteY0" fmla="*/ 40 h 16743"/>
                <a:gd name="connsiteX1" fmla="*/ 9764 w 13031"/>
                <a:gd name="connsiteY1" fmla="*/ 726 h 16743"/>
                <a:gd name="connsiteX2" fmla="*/ 11741 w 13031"/>
                <a:gd name="connsiteY2" fmla="*/ 2623 h 16743"/>
                <a:gd name="connsiteX3" fmla="*/ 12427 w 13031"/>
                <a:gd name="connsiteY3" fmla="*/ 5285 h 16743"/>
                <a:gd name="connsiteX4" fmla="*/ 11499 w 13031"/>
                <a:gd name="connsiteY4" fmla="*/ 8311 h 16743"/>
                <a:gd name="connsiteX5" fmla="*/ 9239 w 13031"/>
                <a:gd name="connsiteY5" fmla="*/ 10046 h 16743"/>
                <a:gd name="connsiteX6" fmla="*/ 13032 w 13031"/>
                <a:gd name="connsiteY6" fmla="*/ 16744 h 16743"/>
                <a:gd name="connsiteX7" fmla="*/ 10046 w 13031"/>
                <a:gd name="connsiteY7" fmla="*/ 16744 h 16743"/>
                <a:gd name="connsiteX8" fmla="*/ 6576 w 13031"/>
                <a:gd name="connsiteY8" fmla="*/ 10530 h 16743"/>
                <a:gd name="connsiteX9" fmla="*/ 2623 w 13031"/>
                <a:gd name="connsiteY9" fmla="*/ 10530 h 16743"/>
                <a:gd name="connsiteX10" fmla="*/ 2623 w 13031"/>
                <a:gd name="connsiteY10" fmla="*/ 16744 h 16743"/>
                <a:gd name="connsiteX11" fmla="*/ 0 w 13031"/>
                <a:gd name="connsiteY11" fmla="*/ 16744 h 16743"/>
                <a:gd name="connsiteX12" fmla="*/ 0 w 13031"/>
                <a:gd name="connsiteY12" fmla="*/ 0 h 16743"/>
                <a:gd name="connsiteX13" fmla="*/ 6940 w 13031"/>
                <a:gd name="connsiteY13" fmla="*/ 0 h 16743"/>
                <a:gd name="connsiteX14" fmla="*/ 6940 w 13031"/>
                <a:gd name="connsiteY14" fmla="*/ 8190 h 16743"/>
                <a:gd name="connsiteX15" fmla="*/ 8432 w 13031"/>
                <a:gd name="connsiteY15" fmla="*/ 7827 h 16743"/>
                <a:gd name="connsiteX16" fmla="*/ 9441 w 13031"/>
                <a:gd name="connsiteY16" fmla="*/ 6819 h 16743"/>
                <a:gd name="connsiteX17" fmla="*/ 9804 w 13031"/>
                <a:gd name="connsiteY17" fmla="*/ 5326 h 16743"/>
                <a:gd name="connsiteX18" fmla="*/ 9441 w 13031"/>
                <a:gd name="connsiteY18" fmla="*/ 3833 h 16743"/>
                <a:gd name="connsiteX19" fmla="*/ 8432 w 13031"/>
                <a:gd name="connsiteY19" fmla="*/ 2824 h 16743"/>
                <a:gd name="connsiteX20" fmla="*/ 6940 w 13031"/>
                <a:gd name="connsiteY20" fmla="*/ 2461 h 16743"/>
                <a:gd name="connsiteX21" fmla="*/ 2623 w 13031"/>
                <a:gd name="connsiteY21" fmla="*/ 2461 h 16743"/>
                <a:gd name="connsiteX22" fmla="*/ 2623 w 13031"/>
                <a:gd name="connsiteY22" fmla="*/ 8190 h 16743"/>
                <a:gd name="connsiteX23" fmla="*/ 6940 w 13031"/>
                <a:gd name="connsiteY23" fmla="*/ 8190 h 16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031" h="16743">
                  <a:moveTo>
                    <a:pt x="6940" y="40"/>
                  </a:moveTo>
                  <a:cubicBezTo>
                    <a:pt x="7989" y="40"/>
                    <a:pt x="8916" y="282"/>
                    <a:pt x="9764" y="726"/>
                  </a:cubicBezTo>
                  <a:cubicBezTo>
                    <a:pt x="10611" y="1170"/>
                    <a:pt x="11257" y="1816"/>
                    <a:pt x="11741" y="2623"/>
                  </a:cubicBezTo>
                  <a:cubicBezTo>
                    <a:pt x="12225" y="3429"/>
                    <a:pt x="12427" y="4317"/>
                    <a:pt x="12427" y="5285"/>
                  </a:cubicBezTo>
                  <a:cubicBezTo>
                    <a:pt x="12427" y="6496"/>
                    <a:pt x="12104" y="7504"/>
                    <a:pt x="11499" y="8311"/>
                  </a:cubicBezTo>
                  <a:cubicBezTo>
                    <a:pt x="10893" y="9118"/>
                    <a:pt x="10127" y="9683"/>
                    <a:pt x="9239" y="10046"/>
                  </a:cubicBezTo>
                  <a:lnTo>
                    <a:pt x="13032" y="16744"/>
                  </a:lnTo>
                  <a:lnTo>
                    <a:pt x="10046" y="16744"/>
                  </a:lnTo>
                  <a:lnTo>
                    <a:pt x="6576" y="10530"/>
                  </a:lnTo>
                  <a:lnTo>
                    <a:pt x="2623" y="10530"/>
                  </a:lnTo>
                  <a:lnTo>
                    <a:pt x="2623" y="16744"/>
                  </a:lnTo>
                  <a:lnTo>
                    <a:pt x="0" y="16744"/>
                  </a:lnTo>
                  <a:lnTo>
                    <a:pt x="0" y="0"/>
                  </a:lnTo>
                  <a:lnTo>
                    <a:pt x="6940" y="0"/>
                  </a:lnTo>
                  <a:close/>
                  <a:moveTo>
                    <a:pt x="6940" y="8190"/>
                  </a:moveTo>
                  <a:cubicBezTo>
                    <a:pt x="7504" y="8190"/>
                    <a:pt x="7989" y="8069"/>
                    <a:pt x="8432" y="7827"/>
                  </a:cubicBezTo>
                  <a:cubicBezTo>
                    <a:pt x="8876" y="7585"/>
                    <a:pt x="9199" y="7222"/>
                    <a:pt x="9441" y="6819"/>
                  </a:cubicBezTo>
                  <a:cubicBezTo>
                    <a:pt x="9683" y="6375"/>
                    <a:pt x="9804" y="5891"/>
                    <a:pt x="9804" y="5326"/>
                  </a:cubicBezTo>
                  <a:cubicBezTo>
                    <a:pt x="9804" y="4761"/>
                    <a:pt x="9683" y="4277"/>
                    <a:pt x="9441" y="3833"/>
                  </a:cubicBezTo>
                  <a:cubicBezTo>
                    <a:pt x="9199" y="3389"/>
                    <a:pt x="8836" y="3066"/>
                    <a:pt x="8432" y="2824"/>
                  </a:cubicBezTo>
                  <a:cubicBezTo>
                    <a:pt x="7989" y="2582"/>
                    <a:pt x="7504" y="2461"/>
                    <a:pt x="6940" y="2461"/>
                  </a:cubicBezTo>
                  <a:lnTo>
                    <a:pt x="2623" y="2461"/>
                  </a:lnTo>
                  <a:lnTo>
                    <a:pt x="2623" y="8190"/>
                  </a:lnTo>
                  <a:lnTo>
                    <a:pt x="6940" y="8190"/>
                  </a:lnTo>
                  <a:close/>
                </a:path>
              </a:pathLst>
            </a:custGeom>
            <a:grpFill/>
            <a:ln w="39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NL" b="0" i="0">
                <a:latin typeface="IntelOne Display Light" panose="020B0403020203020204" pitchFamily="34" charset="7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3653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743" r:id="rId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kern="1200">
          <a:solidFill>
            <a:schemeClr val="tx1"/>
          </a:solidFill>
          <a:latin typeface="IntelOne Display Light" panose="020B0403020203020204" pitchFamily="34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 typeface="IntelOne Display Regular" panose="020B0503020203020204" pitchFamily="34" charset="0"/>
        <a:buNone/>
        <a:defRPr sz="1800" b="0" i="0" kern="1200">
          <a:solidFill>
            <a:schemeClr val="tx1"/>
          </a:solidFill>
          <a:latin typeface="IntelOne Display Light" panose="020B0403020203020204" pitchFamily="34" charset="77"/>
          <a:ea typeface="+mn-ea"/>
          <a:cs typeface="+mn-cs"/>
        </a:defRPr>
      </a:lvl1pPr>
      <a:lvl2pPr marL="182563" indent="-182563" algn="l" defTabSz="914400" rtl="0" eaLnBrk="1" latinLnBrk="0" hangingPunct="1">
        <a:lnSpc>
          <a:spcPct val="100000"/>
        </a:lnSpc>
        <a:spcBef>
          <a:spcPts val="600"/>
        </a:spcBef>
        <a:buFont typeface="IntelOne Display Regular" panose="020B0503020203020204" pitchFamily="34" charset="0"/>
        <a:buChar char="•"/>
        <a:tabLst/>
        <a:defRPr sz="1600" b="0" i="0" kern="1200">
          <a:solidFill>
            <a:schemeClr val="tx1"/>
          </a:solidFill>
          <a:latin typeface="IntelOne Display Light" panose="020B0403020203020204" pitchFamily="34" charset="77"/>
          <a:ea typeface="+mn-ea"/>
          <a:cs typeface="+mn-cs"/>
        </a:defRPr>
      </a:lvl2pPr>
      <a:lvl3pPr marL="358775" indent="-176213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stem Font Regular"/>
        <a:buChar char="-"/>
        <a:tabLst/>
        <a:defRPr sz="1400" b="0" i="0" kern="1200">
          <a:solidFill>
            <a:schemeClr val="tx1"/>
          </a:solidFill>
          <a:latin typeface="IntelOne Display Light" panose="020B0403020203020204" pitchFamily="34" charset="77"/>
          <a:ea typeface="+mn-ea"/>
          <a:cs typeface="+mn-cs"/>
        </a:defRPr>
      </a:lvl3pPr>
      <a:lvl4pPr marL="6350" indent="0" algn="l" defTabSz="914400" rtl="0" eaLnBrk="1" latinLnBrk="0" hangingPunct="1">
        <a:lnSpc>
          <a:spcPct val="100000"/>
        </a:lnSpc>
        <a:spcBef>
          <a:spcPts val="0"/>
        </a:spcBef>
        <a:buFont typeface="IntelOne Display Regular" panose="020B0503020203020204" pitchFamily="34" charset="0"/>
        <a:buNone/>
        <a:tabLst/>
        <a:defRPr sz="1400" b="0" i="0" kern="1200">
          <a:solidFill>
            <a:schemeClr val="tx1">
              <a:lumMod val="60000"/>
              <a:lumOff val="40000"/>
            </a:schemeClr>
          </a:solidFill>
          <a:latin typeface="IntelOne Display Light" panose="020B0403020203020204" pitchFamily="34" charset="77"/>
          <a:ea typeface="+mn-ea"/>
          <a:cs typeface="+mn-cs"/>
        </a:defRPr>
      </a:lvl4pPr>
      <a:lvl5pPr marL="6350" indent="0" algn="l" defTabSz="914400" rtl="0" eaLnBrk="1" latinLnBrk="0" hangingPunct="1">
        <a:lnSpc>
          <a:spcPct val="100000"/>
        </a:lnSpc>
        <a:spcBef>
          <a:spcPts val="1200"/>
        </a:spcBef>
        <a:buFont typeface="IntelOne Display Regular" panose="020B0503020203020204" pitchFamily="34" charset="0"/>
        <a:buNone/>
        <a:tabLst/>
        <a:defRPr sz="2000" b="0" i="0" kern="1200">
          <a:solidFill>
            <a:schemeClr val="tx2"/>
          </a:solidFill>
          <a:latin typeface="IntelOne Display Medium" panose="020B0503020203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7391">
          <p15:clr>
            <a:srgbClr val="F26B43"/>
          </p15:clr>
        </p15:guide>
        <p15:guide id="4" pos="286">
          <p15:clr>
            <a:srgbClr val="F26B43"/>
          </p15:clr>
        </p15:guide>
        <p15:guide id="5" orient="horz" pos="725">
          <p15:clr>
            <a:srgbClr val="F26B43"/>
          </p15:clr>
        </p15:guide>
        <p15:guide id="7" orient="horz" pos="3742">
          <p15:clr>
            <a:srgbClr val="F26B43"/>
          </p15:clr>
        </p15:guide>
        <p15:guide id="12" pos="3930">
          <p15:clr>
            <a:srgbClr val="F26B43"/>
          </p15:clr>
        </p15:guide>
        <p15:guide id="15" pos="6975">
          <p15:clr>
            <a:srgbClr val="F26B43"/>
          </p15:clr>
        </p15:guide>
        <p15:guide id="16" pos="3744">
          <p15:clr>
            <a:srgbClr val="F26B43"/>
          </p15:clr>
        </p15:guide>
        <p15:guide id="17" pos="5565">
          <p15:clr>
            <a:srgbClr val="F26B43"/>
          </p15:clr>
        </p15:guide>
        <p15:guide id="18" pos="2615">
          <p15:clr>
            <a:srgbClr val="F26B43"/>
          </p15:clr>
        </p15:guide>
        <p15:guide id="20" orient="horz" pos="845">
          <p15:clr>
            <a:srgbClr val="F26B43"/>
          </p15:clr>
        </p15:guide>
        <p15:guide id="21" pos="702">
          <p15:clr>
            <a:srgbClr val="F26B43"/>
          </p15:clr>
        </p15:guide>
        <p15:guide id="22" orient="horz" pos="288">
          <p15:clr>
            <a:srgbClr val="F26B43"/>
          </p15:clr>
        </p15:guide>
        <p15:guide id="23" orient="horz" pos="4026">
          <p15:clr>
            <a:srgbClr val="F26B43"/>
          </p15:clr>
        </p15:guide>
        <p15:guide id="24" pos="5757">
          <p15:clr>
            <a:srgbClr val="F26B43"/>
          </p15:clr>
        </p15:guide>
        <p15:guide id="25" pos="192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914E9-C178-AA28-E95A-5176C466A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780C840-5704-81AE-4078-1260D809F8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The Next Decade of Robotics Research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7273B66-D714-2B6B-DF36-6F39FAEE61AB}"/>
              </a:ext>
            </a:extLst>
          </p:cNvPr>
          <p:cNvSpPr txBox="1"/>
          <p:nvPr/>
        </p:nvSpPr>
        <p:spPr>
          <a:xfrm>
            <a:off x="179471" y="767853"/>
            <a:ext cx="960847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</a:rPr>
              <a:t>Multi-NPU Is Necessary, But Not Sufficient</a:t>
            </a:r>
          </a:p>
          <a:p>
            <a:pPr fontAlgn="t">
              <a:lnSpc>
                <a:spcPct val="100000"/>
              </a:lnSpc>
              <a:buNone/>
            </a:pPr>
            <a:endParaRPr lang="en-US" sz="2400" b="1" dirty="0"/>
          </a:p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</a:rPr>
              <a:t>Today’s Vision : CPU + GPU + Multi-NPU</a:t>
            </a:r>
          </a:p>
          <a:p>
            <a:pPr fontAlgn="t">
              <a:lnSpc>
                <a:spcPct val="100000"/>
              </a:lnSpc>
              <a:buNone/>
            </a:pPr>
            <a:endParaRPr lang="en-US" sz="2400" b="1" dirty="0"/>
          </a:p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</a:rPr>
              <a:t>Tomorrow’s Challenge</a:t>
            </a:r>
          </a:p>
          <a:p>
            <a:pPr lvl="1" fontAlgn="t"/>
            <a:r>
              <a:rPr lang="en-US" sz="2000" dirty="0"/>
              <a:t>Future robots will need :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Lifelong learning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Multi-robot collaboration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World Models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Human collaboration</a:t>
            </a:r>
          </a:p>
          <a:p>
            <a:pPr marL="800100" lvl="1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Autonomous adaptation</a:t>
            </a:r>
          </a:p>
          <a:p>
            <a:pPr fontAlgn="t"/>
            <a:endParaRPr lang="en-US" sz="2000" dirty="0"/>
          </a:p>
          <a:p>
            <a:pPr fontAlgn="t"/>
            <a:r>
              <a:rPr lang="en-US" sz="2400" dirty="0"/>
              <a:t>Next Challenge is not compute, it is Intelligence Orchestration</a:t>
            </a:r>
          </a:p>
          <a:p>
            <a:pPr fontAlgn="t">
              <a:lnSpc>
                <a:spcPct val="100000"/>
              </a:lnSpc>
              <a:buNone/>
            </a:pPr>
            <a:endParaRPr lang="en-US" sz="2400" b="1" i="0" dirty="0">
              <a:effectLst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D2217F-0848-868E-00BE-3F642E3D91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01" y="485225"/>
            <a:ext cx="10650828" cy="629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30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C7781-B825-3FD0-4E3B-BE5A94E4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D162637-4F79-B942-3F8C-049FFCF95ED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Robotics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2AC10AE-5D30-59AB-1CED-EB6247FB08E6}"/>
              </a:ext>
            </a:extLst>
          </p:cNvPr>
          <p:cNvSpPr txBox="1"/>
          <p:nvPr/>
        </p:nvSpPr>
        <p:spPr>
          <a:xfrm>
            <a:off x="263825" y="1770830"/>
            <a:ext cx="1153322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Today: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One Robot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One Brain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Future: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Robots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Brains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Shared Intelligence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/>
            <a:r>
              <a:rPr lang="en-US" sz="2000" dirty="0"/>
              <a:t>Robots learn collectively, which brings in new challenges and opportunities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8FC661D-0C72-4505-631F-04C2E745BDF5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Distributed Cognitive Systems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015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AFBB5-2A57-AC0F-AE57-590635529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E3DA2CF6-FCA8-787A-6E52-4BBAF3A0298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Challenge #1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E7356-2215-ECFF-C9AE-2B5021B0E749}"/>
              </a:ext>
            </a:extLst>
          </p:cNvPr>
          <p:cNvSpPr txBox="1"/>
          <p:nvPr/>
        </p:nvSpPr>
        <p:spPr>
          <a:xfrm>
            <a:off x="263825" y="1770830"/>
            <a:ext cx="11533222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Current AI: Seconds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Future Robotics: </a:t>
            </a:r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Physical AI must think at multiple speeds simultaneously </a:t>
            </a:r>
            <a:r>
              <a:rPr lang="en-US" sz="2000" dirty="0">
                <a:sym typeface="Wingdings" panose="05000000000000000000" pitchFamily="2" charset="2"/>
              </a:rPr>
              <a:t></a:t>
            </a:r>
            <a:endParaRPr lang="en-US" sz="2000" dirty="0"/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Microseconds (Motor Stabilization)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Milliseconds (Balance Control)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Seconds (Object Manipulation)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Minutes (Task Planning)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Hours (Mission Planning)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Days (Learning &amp; Adaptation)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/>
            <a:r>
              <a:rPr lang="en-US" sz="2000" b="1" dirty="0"/>
              <a:t>Research Gap</a:t>
            </a:r>
            <a:r>
              <a:rPr lang="en-US" sz="2000" dirty="0"/>
              <a:t>: Hierarchical Cognition (No architecture today that efficiently spans this hierarchy)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1 kHz Control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1 Hz Reasoning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24-hour Planning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879417-0135-030B-6331-A41B9F938FD3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Reasoning across Multiple Time Horizons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80981B0-9EF8-B31F-56DD-7DB3F1A73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392" y="820075"/>
            <a:ext cx="4636138" cy="4288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5949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A49AF-FC9A-E2E3-3205-B282CB8C9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60A0B73-CEA7-6894-4C84-22C21C1FFFB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Challenge #2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FA26F-9623-0311-7C3A-E8895531B7F0}"/>
              </a:ext>
            </a:extLst>
          </p:cNvPr>
          <p:cNvSpPr txBox="1"/>
          <p:nvPr/>
        </p:nvSpPr>
        <p:spPr>
          <a:xfrm>
            <a:off x="263825" y="1770830"/>
            <a:ext cx="11533222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Current Multi-NPU: One SoC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Future Robots: Shared Cognition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Robot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↔ Robot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↔ Edge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↔ Cloud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/>
            <a:r>
              <a:rPr lang="en-US" sz="2000" b="1" dirty="0"/>
              <a:t>Research Gap</a:t>
            </a:r>
            <a:r>
              <a:rPr lang="en-US" sz="2000" dirty="0"/>
              <a:t>: How do autonomous robots :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Share experience?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Share models?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Share uncertainty?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Coordinate actions?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3D90A9-E373-5527-4CEB-6D0E70FF1C82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Distributed Cognitive Fabrics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546EF5-0488-D65D-2828-5958974820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9495" y="875763"/>
            <a:ext cx="6702505" cy="4872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448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1E80-156F-5EBB-2C6D-47506936D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2F9F2D71-B936-D8DC-87C9-3619E8CA84E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Challenge #3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725E50-B614-3724-AEB7-B12CFDA8E58F}"/>
              </a:ext>
            </a:extLst>
          </p:cNvPr>
          <p:cNvSpPr txBox="1"/>
          <p:nvPr/>
        </p:nvSpPr>
        <p:spPr>
          <a:xfrm>
            <a:off x="257475" y="1586680"/>
            <a:ext cx="1153322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Current AI: TOPs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Future Robotics: Memory becomes critical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Working Memory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Episodic Memory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Semantic Memory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Spatial Memory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Procedural Memory 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Fleet Memory</a:t>
            </a:r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Similar to humans for better recall, experience retention and long-term knowledge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/>
            <a:r>
              <a:rPr lang="en-US" sz="2000" b="1" dirty="0"/>
              <a:t>Research Gap</a:t>
            </a:r>
            <a:r>
              <a:rPr lang="en-US" sz="2000" dirty="0"/>
              <a:t>: Robotics Memory Hierarchy Does Not Exist Yet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How Should Robots Remember Experiences?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How much memory will future Robots Need?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Memory retrieval for Robotics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Shared Memory Across Robot Fleets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E807260-7539-4045-A666-FF92AF102C12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Memory Is Becoming More Important Than Compute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42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ABEE93-2E03-F320-E6C6-714973A38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08B82A36-186B-DB1C-D2A7-FE0C3EA9977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Challenge #4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092055-302A-5A55-6BF3-677488421D03}"/>
              </a:ext>
            </a:extLst>
          </p:cNvPr>
          <p:cNvSpPr txBox="1"/>
          <p:nvPr/>
        </p:nvSpPr>
        <p:spPr>
          <a:xfrm>
            <a:off x="263825" y="1770830"/>
            <a:ext cx="11533222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Current Robot Safety: Deterministic safety mechanism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  <a:p>
            <a:pPr fontAlgn="t">
              <a:lnSpc>
                <a:spcPct val="100000"/>
              </a:lnSpc>
              <a:buNone/>
            </a:pPr>
            <a:r>
              <a:rPr lang="en-US" sz="2000" dirty="0"/>
              <a:t>Future Robotics: Independent Runtime Assurance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Safety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Reliability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Predictability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Verifiable Actions</a:t>
            </a:r>
          </a:p>
          <a:p>
            <a:pPr fontAlgn="t"/>
            <a:endParaRPr lang="en-US" sz="2000" dirty="0"/>
          </a:p>
          <a:p>
            <a:pPr fontAlgn="t"/>
            <a:endParaRPr lang="en-US" sz="2000" b="1" dirty="0"/>
          </a:p>
          <a:p>
            <a:pPr fontAlgn="t"/>
            <a:r>
              <a:rPr lang="en-US" sz="2000" b="1" dirty="0"/>
              <a:t>Research Gap</a:t>
            </a:r>
            <a:r>
              <a:rPr lang="en-US" sz="2000" dirty="0"/>
              <a:t>: How do we guarantee that an AI-generated action is safe before it is executed?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No Real-Time AI Verification Framework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AI Models Lack Formal Safety Guarantees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Human-Aware Safety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Safety for Learning Systems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Safety Certification of AI</a:t>
            </a:r>
          </a:p>
          <a:p>
            <a:pPr fontAlgn="t"/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919BBE-0B0C-B1CD-1005-C5ED6F1FBCA1}"/>
              </a:ext>
            </a:extLst>
          </p:cNvPr>
          <p:cNvSpPr txBox="1"/>
          <p:nvPr/>
        </p:nvSpPr>
        <p:spPr>
          <a:xfrm>
            <a:off x="179471" y="946839"/>
            <a:ext cx="4278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Real-Time AI Safety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AF6B97-5610-34AA-7D38-8C55C9B11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5703" y="380390"/>
            <a:ext cx="5372095" cy="422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023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11A91-331B-C0CA-102E-F454C116F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CCC9E44-8650-2C5B-A7EB-7841E3ACBC7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Challenge #5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4BA5EB-C16B-43EF-C3C6-8E935642DC5A}"/>
              </a:ext>
            </a:extLst>
          </p:cNvPr>
          <p:cNvSpPr txBox="1"/>
          <p:nvPr/>
        </p:nvSpPr>
        <p:spPr>
          <a:xfrm>
            <a:off x="263825" y="1770830"/>
            <a:ext cx="1153322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Current Training: Data center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Future Robotics: Continuous Learning while deployed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/>
            <a:r>
              <a:rPr lang="en-US" sz="2000" b="1" dirty="0"/>
              <a:t>Research Gap</a:t>
            </a:r>
            <a:r>
              <a:rPr lang="en-US" sz="2000" dirty="0"/>
              <a:t>: How can robots learn without: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Forgetting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Destabilizing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Violating safety rules</a:t>
            </a:r>
            <a:endParaRPr lang="en-US" dirty="0"/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98400C-C255-2793-CDF9-00489AE9CB39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Autonomous Learning in the Real World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055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ED743-3AC8-BE88-21F4-3D217FD9C2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B33066A-F7CC-CBBA-C078-DF0C4687073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Future Challenge #6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2E1E3F-412B-FF4C-21F4-438A43598B16}"/>
              </a:ext>
            </a:extLst>
          </p:cNvPr>
          <p:cNvSpPr txBox="1"/>
          <p:nvPr/>
        </p:nvSpPr>
        <p:spPr>
          <a:xfrm>
            <a:off x="83521" y="1841242"/>
            <a:ext cx="1202495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000" dirty="0"/>
              <a:t>Current AI: Network protection and access control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Device Security (Prevent unauthorized software)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Network Security (Protect communication)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System Security (Prevent unauthorized control)</a:t>
            </a:r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Assumption : Robot operates largely as an isolated system.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  <a:p>
            <a:pPr lvl="0" fontAlgn="t">
              <a:lnSpc>
                <a:spcPct val="100000"/>
              </a:lnSpc>
            </a:pPr>
            <a:r>
              <a:rPr lang="en-US" sz="2000" dirty="0"/>
              <a:t>Future Robotics: Cognitive Security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Safety prevents unintended harm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Security prevents an attacker from making the robot unsafe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fontAlgn="t"/>
            <a:r>
              <a:rPr lang="en-US" sz="2000" b="1" dirty="0"/>
              <a:t>Research Gap</a:t>
            </a:r>
            <a:r>
              <a:rPr lang="en-US" sz="2000" dirty="0"/>
              <a:t>: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Can robots trust model updates?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Can robots trust shared memory?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Can robots trust sensor inputs?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2000" dirty="0"/>
              <a:t>Can fleet learning be poisoned?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AA60215-44B1-D95D-2737-28D02870AD37}"/>
              </a:ext>
            </a:extLst>
          </p:cNvPr>
          <p:cNvSpPr txBox="1"/>
          <p:nvPr/>
        </p:nvSpPr>
        <p:spPr>
          <a:xfrm>
            <a:off x="179470" y="946839"/>
            <a:ext cx="8204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t">
              <a:lnSpc>
                <a:spcPct val="100000"/>
              </a:lnSpc>
              <a:buNone/>
            </a:pPr>
            <a:r>
              <a:rPr lang="en-US" sz="2400" b="1" i="0" dirty="0">
                <a:effectLst/>
                <a:latin typeface="+mn-lt"/>
              </a:rPr>
              <a:t>Secure Distributed Cognition</a:t>
            </a:r>
            <a:endParaRPr lang="en-US" sz="2400" b="1" i="0" dirty="0"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5154F1-1514-4C13-7BAD-341093080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9799" y="96388"/>
            <a:ext cx="7069775" cy="18716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72A51BB-0EF5-E16A-F562-20934DE93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8102" y="4729826"/>
            <a:ext cx="6483351" cy="21218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417DC3-2A10-3CD8-C94B-890A0CD6D5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5046" y="2105931"/>
            <a:ext cx="3364529" cy="245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663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E4137-D9D8-7DDD-DAB6-908AD0F18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129CA5-3FD2-EA20-6954-C9688FBC0C4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Hardware Research 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97B2E9-C8B0-E136-6175-22F1B6875B65}"/>
              </a:ext>
            </a:extLst>
          </p:cNvPr>
          <p:cNvSpPr txBox="1"/>
          <p:nvPr/>
        </p:nvSpPr>
        <p:spPr>
          <a:xfrm>
            <a:off x="167234" y="618172"/>
            <a:ext cx="11533222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400" dirty="0"/>
              <a:t>Priorities</a:t>
            </a:r>
          </a:p>
          <a:p>
            <a:pPr marL="457200" lvl="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2000" dirty="0"/>
              <a:t>Multi-NPU Systems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Distributed NPU architecture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Cognitive fabrics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Chiplet-based robots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2000" dirty="0"/>
              <a:t>Memory Systems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Memory pools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Persistent memory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In-memory computing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2000" dirty="0"/>
              <a:t>Networking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TSN evolution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Robot-to-robot communication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Distributed fabrics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2000" dirty="0"/>
              <a:t>Safety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Safety islands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2000" dirty="0"/>
              <a:t>AI verification engines</a:t>
            </a:r>
          </a:p>
          <a:p>
            <a:pPr lvl="0" fontAlgn="t">
              <a:lnSpc>
                <a:spcPct val="10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0993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1FD3-89C1-F373-2CF8-1F8DB5E58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1ADEDE99-DC68-5D08-4FD5-47DEB06E61C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Software Research Agenda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593EF4-42D1-B783-0D6E-5C4C40E895EE}"/>
              </a:ext>
            </a:extLst>
          </p:cNvPr>
          <p:cNvSpPr txBox="1"/>
          <p:nvPr/>
        </p:nvSpPr>
        <p:spPr>
          <a:xfrm>
            <a:off x="167234" y="618172"/>
            <a:ext cx="11533222" cy="60170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400" dirty="0"/>
              <a:t>Priorities</a:t>
            </a:r>
          </a:p>
          <a:p>
            <a:pPr marL="457200" lvl="0" indent="-457200" fontAlgn="t">
              <a:lnSpc>
                <a:spcPct val="100000"/>
              </a:lnSpc>
              <a:buFont typeface="+mj-lt"/>
              <a:buAutoNum type="arabicPeriod"/>
            </a:pPr>
            <a:r>
              <a:rPr lang="en-US" sz="1900" dirty="0"/>
              <a:t>Distributed Cognition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Multi-agent reasoning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Shared world models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1900" dirty="0"/>
              <a:t>Lifelong Learning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Online adaptation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Continual learning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1900" dirty="0"/>
              <a:t>Robotics Runtime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NPU scheduling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Resource orchestration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1900" dirty="0"/>
              <a:t>Safety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AI validation frameworks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Verified action generation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endParaRPr lang="en-US" sz="1900" dirty="0"/>
          </a:p>
          <a:p>
            <a:pPr marL="457200" indent="-457200" fontAlgn="t">
              <a:buFont typeface="+mj-lt"/>
              <a:buAutoNum type="arabicPeriod"/>
            </a:pPr>
            <a:r>
              <a:rPr lang="en-US" sz="1900" dirty="0"/>
              <a:t>Human-Robot Collaboration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Intent understanding</a:t>
            </a:r>
          </a:p>
          <a:p>
            <a:pPr marL="914400" lvl="1" indent="-457200" fontAlgn="t">
              <a:buFont typeface="Arial" panose="020B0604020202020204" pitchFamily="34" charset="0"/>
              <a:buChar char="•"/>
            </a:pPr>
            <a:r>
              <a:rPr lang="en-US" sz="1900" dirty="0"/>
              <a:t>Collaborative planning</a:t>
            </a:r>
          </a:p>
        </p:txBody>
      </p:sp>
    </p:spTree>
    <p:extLst>
      <p:ext uri="{BB962C8B-B14F-4D97-AF65-F5344CB8AC3E}">
        <p14:creationId xmlns:p14="http://schemas.microsoft.com/office/powerpoint/2010/main" val="306427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0C1A0-530F-C118-2EE7-3044CBDD7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7E1D170B-CAFB-D1B6-DDBB-40313C5D2FD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University + Industry Call To Action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AD36F4-65B0-A4F0-71D7-9826CE1CDC9F}"/>
              </a:ext>
            </a:extLst>
          </p:cNvPr>
          <p:cNvSpPr txBox="1"/>
          <p:nvPr/>
        </p:nvSpPr>
        <p:spPr>
          <a:xfrm>
            <a:off x="118542" y="597455"/>
            <a:ext cx="11954916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fontAlgn="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800" dirty="0"/>
              <a:t>What should academia lead?</a:t>
            </a:r>
            <a:endParaRPr lang="en-US" sz="2400" dirty="0"/>
          </a:p>
          <a:p>
            <a:pPr lvl="0" fontAlgn="t">
              <a:lnSpc>
                <a:spcPct val="100000"/>
              </a:lnSpc>
            </a:pPr>
            <a:r>
              <a:rPr lang="en-US" sz="2400" b="1" dirty="0"/>
              <a:t>Foundation Research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Distributed cognition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Lifelong learning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AI safety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Neuromorphic systems</a:t>
            </a:r>
          </a:p>
          <a:p>
            <a:pPr marL="342900" indent="-342900" fontAlgn="t">
              <a:buFont typeface="Arial" panose="020B0604020202020204" pitchFamily="34" charset="0"/>
              <a:buChar char="•"/>
            </a:pPr>
            <a:r>
              <a:rPr lang="en-US" sz="2000" dirty="0"/>
              <a:t>Multi-agent coordination</a:t>
            </a:r>
          </a:p>
          <a:p>
            <a:pPr fontAlgn="t"/>
            <a:endParaRPr lang="en-US" sz="1900" dirty="0"/>
          </a:p>
          <a:p>
            <a:pPr marL="457200" indent="-457200" fontAlgn="t">
              <a:buFont typeface="Wingdings" panose="05000000000000000000" pitchFamily="2" charset="2"/>
              <a:buChar char="q"/>
            </a:pPr>
            <a:r>
              <a:rPr lang="en-US" sz="2800" dirty="0"/>
              <a:t>What should industry lead?</a:t>
            </a:r>
            <a:endParaRPr lang="en-US" sz="2000" dirty="0"/>
          </a:p>
          <a:p>
            <a:pPr fontAlgn="t">
              <a:lnSpc>
                <a:spcPct val="100000"/>
              </a:lnSpc>
              <a:buNone/>
            </a:pPr>
            <a:r>
              <a:rPr lang="en-US" sz="2400" b="1" dirty="0"/>
              <a:t>Productization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Robotics SoCs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Multi-NPU platforms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Runtime software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Safety certification</a:t>
            </a:r>
          </a:p>
          <a:p>
            <a:pPr marL="342900" lvl="0" indent="-34290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Open ecosystems</a:t>
            </a:r>
          </a:p>
          <a:p>
            <a:pPr fontAlgn="t"/>
            <a:endParaRPr lang="en-US" sz="1900" dirty="0"/>
          </a:p>
          <a:p>
            <a:pPr fontAlgn="t">
              <a:lnSpc>
                <a:spcPct val="100000"/>
              </a:lnSpc>
              <a:buNone/>
            </a:pPr>
            <a:r>
              <a:rPr lang="en-US" sz="2000" b="1" dirty="0"/>
              <a:t>Shared Opportunity : </a:t>
            </a:r>
            <a:r>
              <a:rPr lang="en-US" sz="2000" dirty="0"/>
              <a:t>Create the equivalent of x86 for Robotics. A common platform for Physical AI</a:t>
            </a:r>
          </a:p>
        </p:txBody>
      </p:sp>
    </p:spTree>
    <p:extLst>
      <p:ext uri="{BB962C8B-B14F-4D97-AF65-F5344CB8AC3E}">
        <p14:creationId xmlns:p14="http://schemas.microsoft.com/office/powerpoint/2010/main" val="1093906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90B93-B804-8D4A-58DE-EE166EF04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B3BC283-77E3-411A-B5FC-03FABB3DAEB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Final Vision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57C0C1-A77B-9FCD-EB66-CE88EBC95C9F}"/>
              </a:ext>
            </a:extLst>
          </p:cNvPr>
          <p:cNvSpPr txBox="1"/>
          <p:nvPr/>
        </p:nvSpPr>
        <p:spPr>
          <a:xfrm>
            <a:off x="167233" y="618172"/>
            <a:ext cx="11764417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fontAlgn="t">
              <a:lnSpc>
                <a:spcPct val="100000"/>
              </a:lnSpc>
            </a:pPr>
            <a:r>
              <a:rPr lang="en-US" sz="2400" dirty="0"/>
              <a:t>From Multi-NPU to Distributed Cognitive Systems</a:t>
            </a:r>
          </a:p>
          <a:p>
            <a:pPr lvl="0" fontAlgn="t">
              <a:lnSpc>
                <a:spcPct val="100000"/>
              </a:lnSpc>
            </a:pPr>
            <a:endParaRPr lang="en-US" sz="2400" dirty="0"/>
          </a:p>
          <a:p>
            <a:pPr lvl="0" fontAlgn="t">
              <a:lnSpc>
                <a:spcPct val="100000"/>
              </a:lnSpc>
            </a:pPr>
            <a:r>
              <a:rPr lang="en-US" sz="2400" b="1" dirty="0"/>
              <a:t>Robotics Era</a:t>
            </a:r>
            <a:endParaRPr lang="en-US" sz="1900" b="1" dirty="0"/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CPU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+ GPU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+ Multi-NPU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+ Safety Island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lvl="0" fontAlgn="t">
              <a:lnSpc>
                <a:spcPct val="100000"/>
              </a:lnSpc>
            </a:pPr>
            <a:r>
              <a:rPr lang="en-US" sz="2400" b="1" dirty="0"/>
              <a:t>Physical AI Era</a:t>
            </a:r>
            <a:endParaRPr lang="en-US" sz="1900" b="1" dirty="0"/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Robot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↔ Robot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↔ Edge </a:t>
            </a:r>
          </a:p>
          <a:p>
            <a:pPr marL="285750" indent="-285750" fontAlgn="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↔ Cloud</a:t>
            </a:r>
          </a:p>
          <a:p>
            <a:pPr fontAlgn="t"/>
            <a:endParaRPr lang="en-US" sz="1900" dirty="0"/>
          </a:p>
          <a:p>
            <a:pPr fontAlgn="t"/>
            <a:r>
              <a:rPr lang="en-US" sz="2000" dirty="0"/>
              <a:t>Multi-NPU is the beginning, not the destination</a:t>
            </a:r>
          </a:p>
          <a:p>
            <a:pPr fontAlgn="t"/>
            <a:endParaRPr lang="en-US" sz="2000" dirty="0"/>
          </a:p>
          <a:p>
            <a:pPr fontAlgn="t"/>
            <a:r>
              <a:rPr lang="en-US" sz="2000" dirty="0"/>
              <a:t>Companies and Universities that solve these challenges will define the computing architecture of the Physical AI era</a:t>
            </a:r>
          </a:p>
          <a:p>
            <a:pPr fontAlgn="t"/>
            <a:endParaRPr lang="en-US" sz="19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C873F66-7C8B-F676-A9FD-510BCDC22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9908" y="1057411"/>
            <a:ext cx="8110695" cy="410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68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7E3C-BFB2-E8D5-3C49-FB2940A92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5B8FBE0-D946-8413-9152-9B8ECEC2A2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0353762" cy="97045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0" i="0" kern="1200">
                <a:solidFill>
                  <a:schemeClr val="tx1"/>
                </a:solidFill>
                <a:latin typeface="IntelOne Display Light" panose="020B0403020203020204" pitchFamily="34" charset="77"/>
                <a:ea typeface="+mj-ea"/>
                <a:cs typeface="+mj-cs"/>
              </a:defRPr>
            </a:lvl1pPr>
          </a:lstStyle>
          <a:p>
            <a:r>
              <a:rPr lang="en-US" b="1" dirty="0"/>
              <a:t>Conclusion : Evolution Toward Physical AI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5265B5-4622-7EDB-5B9B-AECDFA1563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491" y="541188"/>
            <a:ext cx="9233466" cy="613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74132"/>
      </p:ext>
    </p:extLst>
  </p:cSld>
  <p:clrMapOvr>
    <a:masterClrMapping/>
  </p:clrMapOvr>
</p:sld>
</file>

<file path=ppt/theme/theme1.xml><?xml version="1.0" encoding="utf-8"?>
<a:theme xmlns:a="http://schemas.openxmlformats.org/drawingml/2006/main" name="FINAL_Intel Lunar Lake - Theme 2024">
  <a:themeElements>
    <a:clrScheme name="Intel Lunar Lake 2024">
      <a:dk1>
        <a:srgbClr val="000000"/>
      </a:dk1>
      <a:lt1>
        <a:srgbClr val="FFFFFF"/>
      </a:lt1>
      <a:dk2>
        <a:srgbClr val="505050"/>
      </a:dk2>
      <a:lt2>
        <a:srgbClr val="B9B9B9"/>
      </a:lt2>
      <a:accent1>
        <a:srgbClr val="192EBF"/>
      </a:accent1>
      <a:accent2>
        <a:srgbClr val="000F8F"/>
      </a:accent2>
      <a:accent3>
        <a:srgbClr val="000868"/>
      </a:accent3>
      <a:accent4>
        <a:srgbClr val="010E37"/>
      </a:accent4>
      <a:accent5>
        <a:srgbClr val="000000"/>
      </a:accent5>
      <a:accent6>
        <a:srgbClr val="00CAFF"/>
      </a:accent6>
      <a:hlink>
        <a:srgbClr val="00C7FD"/>
      </a:hlink>
      <a:folHlink>
        <a:srgbClr val="0068B5"/>
      </a:folHlink>
    </a:clrScheme>
    <a:fontScheme name="Intel2021">
      <a:majorFont>
        <a:latin typeface="IntelOne Display Light"/>
        <a:ea typeface="Helvetica Neue"/>
        <a:cs typeface="Helvetica Neue"/>
      </a:majorFont>
      <a:minorFont>
        <a:latin typeface="IntelOne Text Light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custClrLst>
    <a:custClr name="Classic Tint 2">
      <a:srgbClr val="76CEFF"/>
    </a:custClr>
    <a:custClr name="Energy Tint 2">
      <a:srgbClr val="B4F0FF"/>
    </a:custClr>
    <a:custClr name="Carbon Tint 2">
      <a:srgbClr val="E9E9E9"/>
    </a:custClr>
    <a:custClr name="Steel Tint 2">
      <a:srgbClr val="B9D6E5"/>
    </a:custClr>
    <a:custClr name="Geode Tint 2">
      <a:srgbClr val="EEC3F7"/>
    </a:custClr>
    <a:custClr name="Moss Tint 2">
      <a:srgbClr val="D7F3A2"/>
    </a:custClr>
    <a:custClr name="Rust Tint 2">
      <a:srgbClr val="FFC599"/>
    </a:custClr>
    <a:custClr name="Cobalt Tint 2">
      <a:srgbClr val="98A1FF"/>
    </a:custClr>
    <a:custClr name="Coral Tint 2">
      <a:srgbClr val="FFB6B9"/>
    </a:custClr>
    <a:custClr name="white">
      <a:srgbClr val="FFFFFF"/>
    </a:custClr>
    <a:custClr name="Classic Tint 1">
      <a:srgbClr val="00A3F6"/>
    </a:custClr>
    <a:custClr name="Energy Tint 1">
      <a:srgbClr val="7BDEFF"/>
    </a:custClr>
    <a:custClr name="Carbon Tint 1">
      <a:srgbClr val="AEAEAE"/>
    </a:custClr>
    <a:custClr name="Steel Tint 1">
      <a:srgbClr val="86B3CA"/>
    </a:custClr>
    <a:custClr name="Geode Tint 1">
      <a:srgbClr val="CC94DA"/>
    </a:custClr>
    <a:custClr name="Moss Tint 1">
      <a:srgbClr val="B1D272"/>
    </a:custClr>
    <a:custClr name="Rust Tint 1">
      <a:srgbClr val="FF8F51"/>
    </a:custClr>
    <a:custClr name="Cobalt Tint 1">
      <a:srgbClr val="5B69FF"/>
    </a:custClr>
    <a:custClr name="Coral Tint 1">
      <a:srgbClr val="FF848A"/>
    </a:custClr>
    <a:custClr name="Daisy Tint 1">
      <a:srgbClr val="FFE17A"/>
    </a:custClr>
    <a:custClr name="Classic">
      <a:srgbClr val="0068B5"/>
    </a:custClr>
    <a:custClr name="Energy">
      <a:srgbClr val="00C7FD"/>
    </a:custClr>
    <a:custClr name="Carbon">
      <a:srgbClr val="808080"/>
    </a:custClr>
    <a:custClr name="Steel">
      <a:srgbClr val="548FAD"/>
    </a:custClr>
    <a:custClr name="Geode">
      <a:srgbClr val="8F5DA2"/>
    </a:custClr>
    <a:custClr name="Moss">
      <a:srgbClr val="8BAE46"/>
    </a:custClr>
    <a:custClr name="Rust">
      <a:srgbClr val="E96115"/>
    </a:custClr>
    <a:custClr name="Cobalt">
      <a:srgbClr val="1E2EB8"/>
    </a:custClr>
    <a:custClr name="Coral">
      <a:srgbClr val="FF5662"/>
    </a:custClr>
    <a:custClr name="Daisy">
      <a:srgbClr val="FEC91B"/>
    </a:custClr>
    <a:custClr name="Classic Shade 1">
      <a:srgbClr val="004A86"/>
    </a:custClr>
    <a:custClr name="Energy Shade 1">
      <a:srgbClr val="0095CA"/>
    </a:custClr>
    <a:custClr name="Carbon Shade 1">
      <a:srgbClr val="525252"/>
    </a:custClr>
    <a:custClr name="Steel Shade 1">
      <a:srgbClr val="41728A"/>
    </a:custClr>
    <a:custClr name="Geode Shade 1">
      <a:srgbClr val="653171"/>
    </a:custClr>
    <a:custClr name="Moss Shade 1">
      <a:srgbClr val="708541"/>
    </a:custClr>
    <a:custClr name="Rust Shade 1">
      <a:srgbClr val="B24501"/>
    </a:custClr>
    <a:custClr name="Cobalt Shade 1">
      <a:srgbClr val="000F8A"/>
    </a:custClr>
    <a:custClr name="Coral Shade 1">
      <a:srgbClr val="C81326"/>
    </a:custClr>
    <a:custClr name="Daisy Shade 1">
      <a:srgbClr val="EDB200"/>
    </a:custClr>
    <a:custClr name="Classic Shade 2">
      <a:srgbClr val="00285A"/>
    </a:custClr>
    <a:custClr name="Energy Shade 2">
      <a:srgbClr val="005B85"/>
    </a:custClr>
    <a:custClr name="Carbon Shade 2">
      <a:srgbClr val="262626"/>
    </a:custClr>
    <a:custClr name="Steel Shade 2">
      <a:srgbClr val="183544"/>
    </a:custClr>
    <a:custClr name="black">
      <a:srgbClr val="000000"/>
    </a:custClr>
    <a:custClr name="Moss Shade 2">
      <a:srgbClr val="515A3D"/>
    </a:custClr>
    <a:custClr name="black">
      <a:srgbClr val="000000"/>
    </a:custClr>
    <a:custClr name="Cobalt Shade 2">
      <a:srgbClr val="000864"/>
    </a:custClr>
    <a:custClr name="black">
      <a:srgbClr val="000000"/>
    </a:custClr>
    <a:custClr name="Daisy Shade 2">
      <a:srgbClr val="C98F00"/>
    </a:custClr>
  </a:custClrLst>
  <a:extLst>
    <a:ext uri="{05A4C25C-085E-4340-85A3-A5531E510DB2}">
      <thm15:themeFamily xmlns:thm15="http://schemas.microsoft.com/office/thememl/2012/main" name="LNL 2024 Template Presentation_20240405.potx" id="{202D1DC5-FA2E-5349-BD04-BC70A010B30A}" vid="{E226EB62-2387-5149-AE0F-BF951FE5D4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11898</TotalTime>
  <Words>656</Words>
  <Application>Microsoft Office PowerPoint</Application>
  <PresentationFormat>Widescreen</PresentationFormat>
  <Paragraphs>200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IntelOne Display Light</vt:lpstr>
      <vt:lpstr>IntelOne Display Medium</vt:lpstr>
      <vt:lpstr>IntelOne Display Regular</vt:lpstr>
      <vt:lpstr>IntelOne Text Light</vt:lpstr>
      <vt:lpstr>Segoe UI</vt:lpstr>
      <vt:lpstr>System Font Regular</vt:lpstr>
      <vt:lpstr>Wingdings</vt:lpstr>
      <vt:lpstr>FINAL_Intel Lunar Lake - Theme 2024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Crews, Darren S</dc:creator>
  <cp:lastModifiedBy>Raha, Arnab</cp:lastModifiedBy>
  <cp:revision>3</cp:revision>
  <dcterms:modified xsi:type="dcterms:W3CDTF">2026-10-15T03:19:16Z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