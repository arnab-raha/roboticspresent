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3" r:id="rId1"/>
  </p:sldMasterIdLst>
  <p:notesMasterIdLst>
    <p:notesMasterId r:id="rId24"/>
  </p:notesMasterIdLst>
  <p:sldIdLst>
    <p:sldId id="256" r:id="rId2"/>
    <p:sldId id="2147483433" r:id="rId3"/>
    <p:sldId id="2147483437" r:id="rId4"/>
    <p:sldId id="2147483438" r:id="rId5"/>
    <p:sldId id="2147483439" r:id="rId6"/>
    <p:sldId id="2147483465" r:id="rId7"/>
    <p:sldId id="2147483440" r:id="rId8"/>
    <p:sldId id="2147483441" r:id="rId9"/>
    <p:sldId id="2147483442" r:id="rId10"/>
    <p:sldId id="2147483443" r:id="rId11"/>
    <p:sldId id="2147483444" r:id="rId12"/>
    <p:sldId id="2147483445" r:id="rId13"/>
    <p:sldId id="2147483446" r:id="rId14"/>
    <p:sldId id="2147483467" r:id="rId15"/>
    <p:sldId id="2147483447" r:id="rId16"/>
    <p:sldId id="2147483468" r:id="rId17"/>
    <p:sldId id="2147483469" r:id="rId18"/>
    <p:sldId id="2147483448" r:id="rId19"/>
    <p:sldId id="2147483449" r:id="rId20"/>
    <p:sldId id="2147483450" r:id="rId21"/>
    <p:sldId id="2147483451" r:id="rId22"/>
    <p:sldId id="2147483452" r:id="rId23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98994-3BFF-41DC-99E5-7BAD15C6639E}" v="242" dt="2026-10-14T23:08:33.547"/>
    <p1510:client id="{C0CE6D08-A01E-4917-8709-731BA1FA63CA}" v="1" dt="2026-10-15T01:29:15.8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22" autoAdjust="0"/>
    <p:restoredTop sz="96712" autoAdjust="0"/>
  </p:normalViewPr>
  <p:slideViewPr>
    <p:cSldViewPr snapToGrid="0">
      <p:cViewPr>
        <p:scale>
          <a:sx n="69" d="100"/>
          <a:sy n="69" d="100"/>
        </p:scale>
        <p:origin x="184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a, Arnab" userId="d7191fbc-c7c1-4f10-b110-776a52f16a65" providerId="ADAL" clId="{224FF509-854B-439F-AFAF-846B150903C0}"/>
    <pc:docChg chg="undo custSel addSld delSld">
      <pc:chgData name="Raha, Arnab" userId="d7191fbc-c7c1-4f10-b110-776a52f16a65" providerId="ADAL" clId="{224FF509-854B-439F-AFAF-846B150903C0}" dt="2026-10-15T03:18:33.439" v="2" actId="47"/>
      <pc:docMkLst>
        <pc:docMk/>
      </pc:docMkLst>
      <pc:sldChg chg="add del">
        <pc:chgData name="Raha, Arnab" userId="d7191fbc-c7c1-4f10-b110-776a52f16a65" providerId="ADAL" clId="{224FF509-854B-439F-AFAF-846B150903C0}" dt="2026-10-15T03:18:33.439" v="2" actId="47"/>
        <pc:sldMkLst>
          <pc:docMk/>
          <pc:sldMk cId="1051305647" sldId="2147483453"/>
        </pc:sldMkLst>
      </pc:sldChg>
      <pc:sldChg chg="add del">
        <pc:chgData name="Raha, Arnab" userId="d7191fbc-c7c1-4f10-b110-776a52f16a65" providerId="ADAL" clId="{224FF509-854B-439F-AFAF-846B150903C0}" dt="2026-10-15T03:18:33.439" v="2" actId="47"/>
        <pc:sldMkLst>
          <pc:docMk/>
          <pc:sldMk cId="2998015387" sldId="2147483454"/>
        </pc:sldMkLst>
      </pc:sldChg>
      <pc:sldChg chg="del">
        <pc:chgData name="Raha, Arnab" userId="d7191fbc-c7c1-4f10-b110-776a52f16a65" providerId="ADAL" clId="{224FF509-854B-439F-AFAF-846B150903C0}" dt="2026-10-15T03:18:33.439" v="2" actId="47"/>
        <pc:sldMkLst>
          <pc:docMk/>
          <pc:sldMk cId="2915949068" sldId="2147483455"/>
        </pc:sldMkLst>
      </pc:sldChg>
      <pc:sldChg chg="del">
        <pc:chgData name="Raha, Arnab" userId="d7191fbc-c7c1-4f10-b110-776a52f16a65" providerId="ADAL" clId="{224FF509-854B-439F-AFAF-846B150903C0}" dt="2026-10-15T03:18:33.439" v="2" actId="47"/>
        <pc:sldMkLst>
          <pc:docMk/>
          <pc:sldMk cId="3638448946" sldId="2147483457"/>
        </pc:sldMkLst>
      </pc:sldChg>
      <pc:sldChg chg="del">
        <pc:chgData name="Raha, Arnab" userId="d7191fbc-c7c1-4f10-b110-776a52f16a65" providerId="ADAL" clId="{224FF509-854B-439F-AFAF-846B150903C0}" dt="2026-10-15T03:18:33.439" v="2" actId="47"/>
        <pc:sldMkLst>
          <pc:docMk/>
          <pc:sldMk cId="2802428496" sldId="2147483458"/>
        </pc:sldMkLst>
      </pc:sldChg>
      <pc:sldChg chg="del">
        <pc:chgData name="Raha, Arnab" userId="d7191fbc-c7c1-4f10-b110-776a52f16a65" providerId="ADAL" clId="{224FF509-854B-439F-AFAF-846B150903C0}" dt="2026-10-15T03:18:33.439" v="2" actId="47"/>
        <pc:sldMkLst>
          <pc:docMk/>
          <pc:sldMk cId="1547023868" sldId="2147483459"/>
        </pc:sldMkLst>
      </pc:sldChg>
      <pc:sldChg chg="del">
        <pc:chgData name="Raha, Arnab" userId="d7191fbc-c7c1-4f10-b110-776a52f16a65" providerId="ADAL" clId="{224FF509-854B-439F-AFAF-846B150903C0}" dt="2026-10-15T03:18:33.439" v="2" actId="47"/>
        <pc:sldMkLst>
          <pc:docMk/>
          <pc:sldMk cId="3470550917" sldId="2147483460"/>
        </pc:sldMkLst>
      </pc:sldChg>
      <pc:sldChg chg="del">
        <pc:chgData name="Raha, Arnab" userId="d7191fbc-c7c1-4f10-b110-776a52f16a65" providerId="ADAL" clId="{224FF509-854B-439F-AFAF-846B150903C0}" dt="2026-10-15T03:18:33.439" v="2" actId="47"/>
        <pc:sldMkLst>
          <pc:docMk/>
          <pc:sldMk cId="3530993657" sldId="2147483461"/>
        </pc:sldMkLst>
      </pc:sldChg>
      <pc:sldChg chg="del">
        <pc:chgData name="Raha, Arnab" userId="d7191fbc-c7c1-4f10-b110-776a52f16a65" providerId="ADAL" clId="{224FF509-854B-439F-AFAF-846B150903C0}" dt="2026-10-15T03:18:33.439" v="2" actId="47"/>
        <pc:sldMkLst>
          <pc:docMk/>
          <pc:sldMk cId="3064270578" sldId="2147483462"/>
        </pc:sldMkLst>
      </pc:sldChg>
      <pc:sldChg chg="del">
        <pc:chgData name="Raha, Arnab" userId="d7191fbc-c7c1-4f10-b110-776a52f16a65" providerId="ADAL" clId="{224FF509-854B-439F-AFAF-846B150903C0}" dt="2026-10-15T03:18:33.439" v="2" actId="47"/>
        <pc:sldMkLst>
          <pc:docMk/>
          <pc:sldMk cId="1093906174" sldId="2147483463"/>
        </pc:sldMkLst>
      </pc:sldChg>
      <pc:sldChg chg="del">
        <pc:chgData name="Raha, Arnab" userId="d7191fbc-c7c1-4f10-b110-776a52f16a65" providerId="ADAL" clId="{224FF509-854B-439F-AFAF-846B150903C0}" dt="2026-10-15T03:18:33.439" v="2" actId="47"/>
        <pc:sldMkLst>
          <pc:docMk/>
          <pc:sldMk cId="3692685646" sldId="2147483464"/>
        </pc:sldMkLst>
      </pc:sldChg>
      <pc:sldChg chg="del">
        <pc:chgData name="Raha, Arnab" userId="d7191fbc-c7c1-4f10-b110-776a52f16a65" providerId="ADAL" clId="{224FF509-854B-439F-AFAF-846B150903C0}" dt="2026-10-15T03:18:33.439" v="2" actId="47"/>
        <pc:sldMkLst>
          <pc:docMk/>
          <pc:sldMk cId="126474132" sldId="2147483466"/>
        </pc:sldMkLst>
      </pc:sldChg>
      <pc:sldChg chg="del">
        <pc:chgData name="Raha, Arnab" userId="d7191fbc-c7c1-4f10-b110-776a52f16a65" providerId="ADAL" clId="{224FF509-854B-439F-AFAF-846B150903C0}" dt="2026-10-15T03:18:33.439" v="2" actId="47"/>
        <pc:sldMkLst>
          <pc:docMk/>
          <pc:sldMk cId="2544663398" sldId="214748347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0:01:35.63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595.88184"/>
      <inkml:brushProperty name="anchorY" value="4431.09521"/>
      <inkml:brushProperty name="scaleFactor" value="0.5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5B3F7-6C32-4922-97DB-60C75747D52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8AD86-A836-48D9-AB98-FF198A840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4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8AD86-A836-48D9-AB98-FF198A8406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93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  <a:p>
            <a:pPr fontAlgn="t"/>
            <a:r>
              <a:rPr lang="en-US" b="1" dirty="0"/>
              <a:t>Key Message: Physical AI requires a fundamentally new compute architecture.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8AD86-A836-48D9-AB98-FF198A8406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58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8AD86-A836-48D9-AB98-FF198A8406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69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| Patter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25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| Text Carb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38">
            <a:extLst>
              <a:ext uri="{FF2B5EF4-FFF2-40B4-BE49-F238E27FC236}">
                <a16:creationId xmlns:a16="http://schemas.microsoft.com/office/drawing/2014/main" id="{C56D7DA7-665C-63F4-0C3E-EA3329DF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rgbClr val="E9E9E9"/>
                </a:solidFill>
                <a:latin typeface="IntelOne Display Light" panose="020B04030202030202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3E30E6C8-E0DF-2834-59C5-08BD9FD8EE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902287"/>
            <a:ext cx="11279188" cy="278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rgbClr val="7BDEFF"/>
                </a:solidFill>
                <a:latin typeface="IntelOne Display Light" panose="020B04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3" name="Content Placeholder 21">
            <a:extLst>
              <a:ext uri="{FF2B5EF4-FFF2-40B4-BE49-F238E27FC236}">
                <a16:creationId xmlns:a16="http://schemas.microsoft.com/office/drawing/2014/main" id="{A10006A8-A38D-ACD8-C0DC-E510838857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4025" y="1341438"/>
            <a:ext cx="8380413" cy="4598987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1pPr>
            <a:lvl2pPr>
              <a:defRPr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2pPr>
            <a:lvl3pPr>
              <a:defRPr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3pPr>
            <a:lvl4pPr>
              <a:defRPr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45F7A2-EEE9-032D-CBF9-CD84791C36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575" y="6526254"/>
            <a:ext cx="977900" cy="18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4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| Title Carb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B5BDC4E5-FEF9-D12E-C0D2-8688E26808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902287"/>
            <a:ext cx="11279188" cy="278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rgbClr val="7BDEFF"/>
                </a:solidFill>
                <a:latin typeface="IntelOne Display Light" panose="020B04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2" name="Title 41">
            <a:extLst>
              <a:ext uri="{FF2B5EF4-FFF2-40B4-BE49-F238E27FC236}">
                <a16:creationId xmlns:a16="http://schemas.microsoft.com/office/drawing/2014/main" id="{B5F7E4B5-CAA1-652F-B279-8E16C675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0581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ntent | Empty Carb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64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Carb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774B9A3-7031-B1B9-1116-4166B7C4CFB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4025" y="1341438"/>
            <a:ext cx="5489575" cy="2611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b">
            <a:noAutofit/>
          </a:bodyPr>
          <a:lstStyle>
            <a:lvl1pPr>
              <a:lnSpc>
                <a:spcPct val="79000"/>
              </a:lnSpc>
              <a:defRPr sz="6000"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1pPr>
          </a:lstStyle>
          <a:p>
            <a:r>
              <a:rPr lang="en-US"/>
              <a:t>Title of this divider layout</a:t>
            </a:r>
            <a:endParaRPr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DCFBBD3-21E8-9BEC-D356-E684741886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4025" y="4102438"/>
            <a:ext cx="5489575" cy="4282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2400" b="0" i="0" spc="100" baseline="0" dirty="0">
                <a:solidFill>
                  <a:srgbClr val="7BDEFF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IntelOne Display Light" panose="020B0403020203020204" pitchFamily="34" charset="77"/>
              </a:defRPr>
            </a:lvl1pPr>
          </a:lstStyle>
          <a:p>
            <a:pPr lvl="0"/>
            <a:r>
              <a:rPr lang="en-US"/>
              <a:t>24pt </a:t>
            </a:r>
            <a:r>
              <a:rPr lang="en-US" err="1"/>
              <a:t>IntelOne</a:t>
            </a:r>
            <a:r>
              <a:rPr lang="en-US"/>
              <a:t> Display Subheading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2EF3DA-F486-AA0D-560B-891C4278F574}"/>
              </a:ext>
            </a:extLst>
          </p:cNvPr>
          <p:cNvSpPr/>
          <p:nvPr userDrawn="1"/>
        </p:nvSpPr>
        <p:spPr>
          <a:xfrm>
            <a:off x="6237826" y="464811"/>
            <a:ext cx="5954174" cy="5934074"/>
          </a:xfrm>
          <a:prstGeom prst="rect">
            <a:avLst/>
          </a:prstGeom>
          <a:solidFill>
            <a:srgbClr val="0C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b="0" i="0">
              <a:solidFill>
                <a:srgbClr val="FFFFFF"/>
              </a:solidFill>
              <a:latin typeface="IntelOne Display Light" panose="020B0403020203020204" pitchFamily="34" charset="77"/>
              <a:ea typeface="Helvetica Neue Roman"/>
              <a:cs typeface="Helvetica Neue Roman"/>
            </a:endParaRP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37DD5C35-6743-53D2-84E8-8D7F155943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7826" y="457200"/>
            <a:ext cx="5954174" cy="548322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lIns="288000" tIns="288000" rIns="288000" anchor="t">
            <a:normAutofit/>
          </a:bodyPr>
          <a:lstStyle>
            <a:lvl1pPr algn="r">
              <a:lnSpc>
                <a:spcPct val="85000"/>
              </a:lnSpc>
              <a:defRPr sz="30000" b="0" i="0">
                <a:solidFill>
                  <a:schemeClr val="bg1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IntelOne Display Light" panose="020B0403020203020204" pitchFamily="34" charset="77"/>
              </a:defRPr>
            </a:lvl1pPr>
            <a:lvl2pPr marL="7937" indent="0">
              <a:buNone/>
              <a:defRPr/>
            </a:lvl2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0BB0CFE7-84DF-A680-4B87-0188C7EC6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91179" y="6522757"/>
            <a:ext cx="5009642" cy="21328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algn="ctr" defTabSz="914400" rtl="0" eaLnBrk="1" latinLnBrk="0" hangingPunct="1">
              <a:defRPr lang="en-GB" sz="800" b="0" i="0" kern="1200" cap="all" spc="30" baseline="0" smtClean="0">
                <a:solidFill>
                  <a:schemeClr val="bg1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Times New Roman" panose="02020603050405020304" pitchFamily="18" charset="0"/>
              </a:defRPr>
            </a:lvl1pPr>
          </a:lstStyle>
          <a:p>
            <a:endParaRPr lang="en-NL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CBDAE10-5D75-81DF-891A-7203B827C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00800"/>
            <a:ext cx="4572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en-NL" sz="1000" b="0" i="0" kern="1200" smtClean="0">
                <a:solidFill>
                  <a:schemeClr val="bg1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Times New Roman" panose="02020603050405020304" pitchFamily="18" charset="0"/>
              </a:defRPr>
            </a:lvl1pPr>
          </a:lstStyle>
          <a:p>
            <a:fld id="{2C387426-3E3D-1147-8365-BF949FCD81FA}" type="slidenum">
              <a:rPr lang="en-NL" smtClean="0"/>
              <a:pPr/>
              <a:t>‹#›</a:t>
            </a:fld>
            <a:endParaRPr lang="en-NL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7668C2F-F685-BC3A-BFEE-47BDDF9D42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575" y="6526254"/>
            <a:ext cx="977900" cy="18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8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| Carb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Text">
            <a:extLst>
              <a:ext uri="{FF2B5EF4-FFF2-40B4-BE49-F238E27FC236}">
                <a16:creationId xmlns:a16="http://schemas.microsoft.com/office/drawing/2014/main" id="{27276AF6-7761-7ECB-D84C-2508B282F5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48205" y="457200"/>
            <a:ext cx="5495395" cy="3615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0" rIns="0" bIns="0" rtlCol="0" anchor="b">
            <a:noAutofit/>
          </a:bodyPr>
          <a:lstStyle>
            <a:lvl1pPr>
              <a:defRPr sz="4400" b="0" i="0" dirty="0">
                <a:solidFill>
                  <a:schemeClr val="bg1"/>
                </a:solidFill>
                <a:latin typeface="IntelOne Display Light" panose="020B0403020203020204" pitchFamily="34" charset="77"/>
              </a:defRPr>
            </a:lvl1pPr>
          </a:lstStyle>
          <a:p>
            <a:pPr lvl="0">
              <a:lnSpc>
                <a:spcPct val="80000"/>
              </a:lnSpc>
            </a:pPr>
            <a:r>
              <a:rPr lang="nl-NL"/>
              <a:t>Big quote or statement </a:t>
            </a:r>
            <a:r>
              <a:rPr lang="nl-NL" err="1"/>
              <a:t>goes</a:t>
            </a:r>
            <a:r>
              <a:rPr lang="nl-NL"/>
              <a:t> </a:t>
            </a:r>
            <a:r>
              <a:rPr lang="nl-NL" err="1"/>
              <a:t>here</a:t>
            </a:r>
            <a:endParaRPr lang="nl-N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FD41B72-4B16-837C-9C74-F80B85AC2D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8205" y="4122234"/>
            <a:ext cx="5495395" cy="428279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IntelOne Display Light" panose="020B0403020203020204" pitchFamily="34" charset="77"/>
              </a:defRPr>
            </a:lvl1pPr>
          </a:lstStyle>
          <a:p>
            <a:r>
              <a:rPr lang="en-US"/>
              <a:t>Subtitle when needed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8FF683A-E430-9F34-4C4B-EC26173DDA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575" y="6526254"/>
            <a:ext cx="977900" cy="18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10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ntent | Title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8C9299A-243E-95ED-79FE-3601212B39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1943184"/>
            <a:ext cx="3697288" cy="8335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400" b="0" i="0">
                <a:solidFill>
                  <a:srgbClr val="00C7FD"/>
                </a:solidFill>
                <a:latin typeface="IntelOne Display Light" panose="020B04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14FF821-22B6-4049-4869-94978A06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6" y="651294"/>
            <a:ext cx="3697288" cy="1258529"/>
          </a:xfrm>
        </p:spPr>
        <p:txBody>
          <a:bodyPr/>
          <a:lstStyle>
            <a:lvl1pPr>
              <a:defRPr sz="4400"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1pPr>
          </a:lstStyle>
          <a:p>
            <a:r>
              <a:rPr lang="en-US"/>
              <a:t>Click to edit Master title</a:t>
            </a:r>
            <a:endParaRPr lang="en-NL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081E11-4AB2-25A9-5B3C-5ADC1F8570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575" y="6526254"/>
            <a:ext cx="977900" cy="18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7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ntent | Empty Carb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3EFFDB4-6C80-9AE8-61B2-08C2C347AC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575" y="6526254"/>
            <a:ext cx="977900" cy="181332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4AF2CD8-32D2-56B8-66AC-0D7DEDB001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6" y="903438"/>
            <a:ext cx="3733800" cy="278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accent6"/>
                </a:solidFill>
                <a:latin typeface="IntelOne Display Light" panose="020B04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Title 41">
            <a:extLst>
              <a:ext uri="{FF2B5EF4-FFF2-40B4-BE49-F238E27FC236}">
                <a16:creationId xmlns:a16="http://schemas.microsoft.com/office/drawing/2014/main" id="{6E86920D-F5E8-28B1-F47B-E881A47B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1270211"/>
            <a:ext cx="3733800" cy="2086739"/>
          </a:xfrm>
        </p:spPr>
        <p:txBody>
          <a:bodyPr/>
          <a:lstStyle>
            <a:lvl1pPr>
              <a:defRPr sz="4400"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0946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716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66A11-DE0A-4D15-8B44-CAC6B997F8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DD7A-48B0-4CC6-8773-FE97D8357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89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402644"/>
            <a:ext cx="11279188" cy="48482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F4DD64-8D8A-8B64-DE4D-878E53F05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025" y="1341438"/>
            <a:ext cx="11280774" cy="45989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786C6D8-BE60-6F31-894A-C81978329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91179" y="6522757"/>
            <a:ext cx="5009642" cy="21328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en-NL" sz="800" b="0" i="0" kern="1200" cap="all" spc="30" baseline="0" dirty="0">
                <a:solidFill>
                  <a:schemeClr val="tx1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Times New Roman" panose="02020603050405020304" pitchFamily="18" charset="0"/>
              </a:defRPr>
            </a:lvl1pPr>
          </a:lstStyle>
          <a:p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2877047-E3CD-ED38-033E-E1B1542E5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00800"/>
            <a:ext cx="4572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en-NL" sz="1000" b="0" i="0" kern="1200" smtClean="0">
                <a:solidFill>
                  <a:schemeClr val="tx1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Times New Roman" panose="02020603050405020304" pitchFamily="18" charset="0"/>
              </a:defRPr>
            </a:lvl1pPr>
          </a:lstStyle>
          <a:p>
            <a:fld id="{2C387426-3E3D-1147-8365-BF949FCD81FA}" type="slidenum">
              <a:rPr lang="en-NL" smtClean="0"/>
              <a:pPr/>
              <a:t>‹#›</a:t>
            </a:fld>
            <a:endParaRPr lang="en-NL"/>
          </a:p>
        </p:txBody>
      </p:sp>
      <p:grpSp>
        <p:nvGrpSpPr>
          <p:cNvPr id="8" name="Graphic 18">
            <a:extLst>
              <a:ext uri="{FF2B5EF4-FFF2-40B4-BE49-F238E27FC236}">
                <a16:creationId xmlns:a16="http://schemas.microsoft.com/office/drawing/2014/main" id="{7E506BD7-7C61-DADB-F8FA-F64025668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4025" y="6540316"/>
            <a:ext cx="475841" cy="178169"/>
            <a:chOff x="11137466" y="6554735"/>
            <a:chExt cx="475841" cy="178169"/>
          </a:xfrm>
          <a:solidFill>
            <a:schemeClr val="tx1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F9DDF30-05ED-2FA4-DCBF-29DC1E097D81}"/>
                </a:ext>
              </a:extLst>
            </p:cNvPr>
            <p:cNvSpPr/>
            <p:nvPr/>
          </p:nvSpPr>
          <p:spPr>
            <a:xfrm>
              <a:off x="11137466" y="6557155"/>
              <a:ext cx="33285" cy="33285"/>
            </a:xfrm>
            <a:custGeom>
              <a:avLst/>
              <a:gdLst>
                <a:gd name="connsiteX0" fmla="*/ 0 w 33285"/>
                <a:gd name="connsiteY0" fmla="*/ 0 h 33285"/>
                <a:gd name="connsiteX1" fmla="*/ 33286 w 33285"/>
                <a:gd name="connsiteY1" fmla="*/ 0 h 33285"/>
                <a:gd name="connsiteX2" fmla="*/ 33286 w 33285"/>
                <a:gd name="connsiteY2" fmla="*/ 33286 h 33285"/>
                <a:gd name="connsiteX3" fmla="*/ 0 w 33285"/>
                <a:gd name="connsiteY3" fmla="*/ 33286 h 3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85" h="33285">
                  <a:moveTo>
                    <a:pt x="0" y="0"/>
                  </a:moveTo>
                  <a:lnTo>
                    <a:pt x="33286" y="0"/>
                  </a:lnTo>
                  <a:lnTo>
                    <a:pt x="33286" y="33286"/>
                  </a:lnTo>
                  <a:lnTo>
                    <a:pt x="0" y="33286"/>
                  </a:lnTo>
                  <a:close/>
                </a:path>
              </a:pathLst>
            </a:custGeom>
            <a:solidFill>
              <a:srgbClr val="0068B5"/>
            </a:solidFill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 b="0" i="0">
                <a:latin typeface="IntelOne Display Light" panose="020B0403020203020204" pitchFamily="34" charset="77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7605E26-4547-9039-CB03-71CCAC262A6B}"/>
                </a:ext>
              </a:extLst>
            </p:cNvPr>
            <p:cNvSpPr/>
            <p:nvPr/>
          </p:nvSpPr>
          <p:spPr>
            <a:xfrm>
              <a:off x="11138353" y="6554735"/>
              <a:ext cx="421536" cy="178169"/>
            </a:xfrm>
            <a:custGeom>
              <a:avLst/>
              <a:gdLst>
                <a:gd name="connsiteX0" fmla="*/ 31551 w 421536"/>
                <a:gd name="connsiteY0" fmla="*/ 55880 h 178169"/>
                <a:gd name="connsiteX1" fmla="*/ 0 w 421536"/>
                <a:gd name="connsiteY1" fmla="*/ 55880 h 178169"/>
                <a:gd name="connsiteX2" fmla="*/ 0 w 421536"/>
                <a:gd name="connsiteY2" fmla="*/ 175668 h 178169"/>
                <a:gd name="connsiteX3" fmla="*/ 31551 w 421536"/>
                <a:gd name="connsiteY3" fmla="*/ 175668 h 178169"/>
                <a:gd name="connsiteX4" fmla="*/ 31551 w 421536"/>
                <a:gd name="connsiteY4" fmla="*/ 55880 h 178169"/>
                <a:gd name="connsiteX5" fmla="*/ 240705 w 421536"/>
                <a:gd name="connsiteY5" fmla="*/ 176878 h 178169"/>
                <a:gd name="connsiteX6" fmla="*/ 240705 w 421536"/>
                <a:gd name="connsiteY6" fmla="*/ 147506 h 178169"/>
                <a:gd name="connsiteX7" fmla="*/ 229287 w 421536"/>
                <a:gd name="connsiteY7" fmla="*/ 146780 h 178169"/>
                <a:gd name="connsiteX8" fmla="*/ 221863 w 421536"/>
                <a:gd name="connsiteY8" fmla="*/ 143512 h 178169"/>
                <a:gd name="connsiteX9" fmla="*/ 218595 w 421536"/>
                <a:gd name="connsiteY9" fmla="*/ 136371 h 178169"/>
                <a:gd name="connsiteX10" fmla="*/ 217869 w 421536"/>
                <a:gd name="connsiteY10" fmla="*/ 124791 h 178169"/>
                <a:gd name="connsiteX11" fmla="*/ 217869 w 421536"/>
                <a:gd name="connsiteY11" fmla="*/ 82871 h 178169"/>
                <a:gd name="connsiteX12" fmla="*/ 240705 w 421536"/>
                <a:gd name="connsiteY12" fmla="*/ 82871 h 178169"/>
                <a:gd name="connsiteX13" fmla="*/ 240705 w 421536"/>
                <a:gd name="connsiteY13" fmla="*/ 55880 h 178169"/>
                <a:gd name="connsiteX14" fmla="*/ 217869 w 421536"/>
                <a:gd name="connsiteY14" fmla="*/ 55880 h 178169"/>
                <a:gd name="connsiteX15" fmla="*/ 217869 w 421536"/>
                <a:gd name="connsiteY15" fmla="*/ 9239 h 178169"/>
                <a:gd name="connsiteX16" fmla="*/ 186318 w 421536"/>
                <a:gd name="connsiteY16" fmla="*/ 9239 h 178169"/>
                <a:gd name="connsiteX17" fmla="*/ 186318 w 421536"/>
                <a:gd name="connsiteY17" fmla="*/ 125033 h 178169"/>
                <a:gd name="connsiteX18" fmla="*/ 188860 w 421536"/>
                <a:gd name="connsiteY18" fmla="*/ 149725 h 178169"/>
                <a:gd name="connsiteX19" fmla="*/ 197252 w 421536"/>
                <a:gd name="connsiteY19" fmla="*/ 165622 h 178169"/>
                <a:gd name="connsiteX20" fmla="*/ 212664 w 421536"/>
                <a:gd name="connsiteY20" fmla="*/ 174256 h 178169"/>
                <a:gd name="connsiteX21" fmla="*/ 236751 w 421536"/>
                <a:gd name="connsiteY21" fmla="*/ 176919 h 178169"/>
                <a:gd name="connsiteX22" fmla="*/ 240705 w 421536"/>
                <a:gd name="connsiteY22" fmla="*/ 176919 h 178169"/>
                <a:gd name="connsiteX23" fmla="*/ 421536 w 421536"/>
                <a:gd name="connsiteY23" fmla="*/ 0 h 178169"/>
                <a:gd name="connsiteX24" fmla="*/ 389985 w 421536"/>
                <a:gd name="connsiteY24" fmla="*/ 0 h 178169"/>
                <a:gd name="connsiteX25" fmla="*/ 389985 w 421536"/>
                <a:gd name="connsiteY25" fmla="*/ 175668 h 178169"/>
                <a:gd name="connsiteX26" fmla="*/ 421536 w 421536"/>
                <a:gd name="connsiteY26" fmla="*/ 175668 h 178169"/>
                <a:gd name="connsiteX27" fmla="*/ 421536 w 421536"/>
                <a:gd name="connsiteY27" fmla="*/ 0 h 178169"/>
                <a:gd name="connsiteX28" fmla="*/ 155857 w 421536"/>
                <a:gd name="connsiteY28" fmla="*/ 67701 h 178169"/>
                <a:gd name="connsiteX29" fmla="*/ 119142 w 421536"/>
                <a:gd name="connsiteY29" fmla="*/ 53459 h 178169"/>
                <a:gd name="connsiteX30" fmla="*/ 98444 w 421536"/>
                <a:gd name="connsiteY30" fmla="*/ 58058 h 178169"/>
                <a:gd name="connsiteX31" fmla="*/ 82750 w 421536"/>
                <a:gd name="connsiteY31" fmla="*/ 70848 h 178169"/>
                <a:gd name="connsiteX32" fmla="*/ 81015 w 421536"/>
                <a:gd name="connsiteY32" fmla="*/ 73067 h 178169"/>
                <a:gd name="connsiteX33" fmla="*/ 81015 w 421536"/>
                <a:gd name="connsiteY33" fmla="*/ 71090 h 178169"/>
                <a:gd name="connsiteX34" fmla="*/ 81015 w 421536"/>
                <a:gd name="connsiteY34" fmla="*/ 55920 h 178169"/>
                <a:gd name="connsiteX35" fmla="*/ 49948 w 421536"/>
                <a:gd name="connsiteY35" fmla="*/ 55920 h 178169"/>
                <a:gd name="connsiteX36" fmla="*/ 49948 w 421536"/>
                <a:gd name="connsiteY36" fmla="*/ 175708 h 178169"/>
                <a:gd name="connsiteX37" fmla="*/ 81297 w 421536"/>
                <a:gd name="connsiteY37" fmla="*/ 175708 h 178169"/>
                <a:gd name="connsiteX38" fmla="*/ 81297 w 421536"/>
                <a:gd name="connsiteY38" fmla="*/ 111880 h 178169"/>
                <a:gd name="connsiteX39" fmla="*/ 81338 w 421536"/>
                <a:gd name="connsiteY39" fmla="*/ 116319 h 178169"/>
                <a:gd name="connsiteX40" fmla="*/ 81378 w 421536"/>
                <a:gd name="connsiteY40" fmla="*/ 114180 h 178169"/>
                <a:gd name="connsiteX41" fmla="*/ 89689 w 421536"/>
                <a:gd name="connsiteY41" fmla="*/ 89327 h 178169"/>
                <a:gd name="connsiteX42" fmla="*/ 109701 w 421536"/>
                <a:gd name="connsiteY42" fmla="*/ 80814 h 178169"/>
                <a:gd name="connsiteX43" fmla="*/ 130358 w 421536"/>
                <a:gd name="connsiteY43" fmla="*/ 89125 h 178169"/>
                <a:gd name="connsiteX44" fmla="*/ 137217 w 421536"/>
                <a:gd name="connsiteY44" fmla="*/ 112082 h 178169"/>
                <a:gd name="connsiteX45" fmla="*/ 137217 w 421536"/>
                <a:gd name="connsiteY45" fmla="*/ 112082 h 178169"/>
                <a:gd name="connsiteX46" fmla="*/ 137217 w 421536"/>
                <a:gd name="connsiteY46" fmla="*/ 112324 h 178169"/>
                <a:gd name="connsiteX47" fmla="*/ 137217 w 421536"/>
                <a:gd name="connsiteY47" fmla="*/ 112365 h 178169"/>
                <a:gd name="connsiteX48" fmla="*/ 137217 w 421536"/>
                <a:gd name="connsiteY48" fmla="*/ 175708 h 178169"/>
                <a:gd name="connsiteX49" fmla="*/ 169050 w 421536"/>
                <a:gd name="connsiteY49" fmla="*/ 175708 h 178169"/>
                <a:gd name="connsiteX50" fmla="*/ 169050 w 421536"/>
                <a:gd name="connsiteY50" fmla="*/ 107684 h 178169"/>
                <a:gd name="connsiteX51" fmla="*/ 155857 w 421536"/>
                <a:gd name="connsiteY51" fmla="*/ 67701 h 178169"/>
                <a:gd name="connsiteX52" fmla="*/ 373524 w 421536"/>
                <a:gd name="connsiteY52" fmla="*/ 115552 h 178169"/>
                <a:gd name="connsiteX53" fmla="*/ 368965 w 421536"/>
                <a:gd name="connsiteY53" fmla="*/ 91344 h 178169"/>
                <a:gd name="connsiteX54" fmla="*/ 356256 w 421536"/>
                <a:gd name="connsiteY54" fmla="*/ 71574 h 178169"/>
                <a:gd name="connsiteX55" fmla="*/ 336729 w 421536"/>
                <a:gd name="connsiteY55" fmla="*/ 58300 h 178169"/>
                <a:gd name="connsiteX56" fmla="*/ 311674 w 421536"/>
                <a:gd name="connsiteY56" fmla="*/ 53499 h 178169"/>
                <a:gd name="connsiteX57" fmla="*/ 287345 w 421536"/>
                <a:gd name="connsiteY57" fmla="*/ 58422 h 178169"/>
                <a:gd name="connsiteX58" fmla="*/ 267575 w 421536"/>
                <a:gd name="connsiteY58" fmla="*/ 71736 h 178169"/>
                <a:gd name="connsiteX59" fmla="*/ 254261 w 421536"/>
                <a:gd name="connsiteY59" fmla="*/ 91506 h 178169"/>
                <a:gd name="connsiteX60" fmla="*/ 249339 w 421536"/>
                <a:gd name="connsiteY60" fmla="*/ 115834 h 178169"/>
                <a:gd name="connsiteX61" fmla="*/ 254019 w 421536"/>
                <a:gd name="connsiteY61" fmla="*/ 140163 h 178169"/>
                <a:gd name="connsiteX62" fmla="*/ 266970 w 421536"/>
                <a:gd name="connsiteY62" fmla="*/ 159933 h 178169"/>
                <a:gd name="connsiteX63" fmla="*/ 286982 w 421536"/>
                <a:gd name="connsiteY63" fmla="*/ 173247 h 178169"/>
                <a:gd name="connsiteX64" fmla="*/ 312642 w 421536"/>
                <a:gd name="connsiteY64" fmla="*/ 178170 h 178169"/>
                <a:gd name="connsiteX65" fmla="*/ 365939 w 421536"/>
                <a:gd name="connsiteY65" fmla="*/ 154648 h 178169"/>
                <a:gd name="connsiteX66" fmla="*/ 343224 w 421536"/>
                <a:gd name="connsiteY66" fmla="*/ 137339 h 178169"/>
                <a:gd name="connsiteX67" fmla="*/ 312884 w 421536"/>
                <a:gd name="connsiteY67" fmla="*/ 150734 h 178169"/>
                <a:gd name="connsiteX68" fmla="*/ 291097 w 421536"/>
                <a:gd name="connsiteY68" fmla="*/ 144601 h 178169"/>
                <a:gd name="connsiteX69" fmla="*/ 279720 w 421536"/>
                <a:gd name="connsiteY69" fmla="*/ 127979 h 178169"/>
                <a:gd name="connsiteX70" fmla="*/ 279397 w 421536"/>
                <a:gd name="connsiteY70" fmla="*/ 126849 h 178169"/>
                <a:gd name="connsiteX71" fmla="*/ 373524 w 421536"/>
                <a:gd name="connsiteY71" fmla="*/ 126849 h 178169"/>
                <a:gd name="connsiteX72" fmla="*/ 373524 w 421536"/>
                <a:gd name="connsiteY72" fmla="*/ 115552 h 178169"/>
                <a:gd name="connsiteX73" fmla="*/ 279720 w 421536"/>
                <a:gd name="connsiteY73" fmla="*/ 104537 h 178169"/>
                <a:gd name="connsiteX74" fmla="*/ 311472 w 421536"/>
                <a:gd name="connsiteY74" fmla="*/ 80451 h 178169"/>
                <a:gd name="connsiteX75" fmla="*/ 343265 w 421536"/>
                <a:gd name="connsiteY75" fmla="*/ 104497 h 178169"/>
                <a:gd name="connsiteX76" fmla="*/ 279720 w 421536"/>
                <a:gd name="connsiteY76" fmla="*/ 104537 h 17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21536" h="178169">
                  <a:moveTo>
                    <a:pt x="31551" y="55880"/>
                  </a:moveTo>
                  <a:lnTo>
                    <a:pt x="0" y="55880"/>
                  </a:lnTo>
                  <a:lnTo>
                    <a:pt x="0" y="175668"/>
                  </a:lnTo>
                  <a:lnTo>
                    <a:pt x="31551" y="175668"/>
                  </a:lnTo>
                  <a:lnTo>
                    <a:pt x="31551" y="55880"/>
                  </a:lnTo>
                  <a:close/>
                  <a:moveTo>
                    <a:pt x="240705" y="176878"/>
                  </a:moveTo>
                  <a:lnTo>
                    <a:pt x="240705" y="147506"/>
                  </a:lnTo>
                  <a:cubicBezTo>
                    <a:pt x="236065" y="147466"/>
                    <a:pt x="232232" y="147224"/>
                    <a:pt x="229287" y="146780"/>
                  </a:cubicBezTo>
                  <a:cubicBezTo>
                    <a:pt x="226019" y="146256"/>
                    <a:pt x="223517" y="145166"/>
                    <a:pt x="221863" y="143512"/>
                  </a:cubicBezTo>
                  <a:cubicBezTo>
                    <a:pt x="220209" y="141858"/>
                    <a:pt x="219120" y="139437"/>
                    <a:pt x="218595" y="136371"/>
                  </a:cubicBezTo>
                  <a:cubicBezTo>
                    <a:pt x="218111" y="133425"/>
                    <a:pt x="217869" y="129512"/>
                    <a:pt x="217869" y="124791"/>
                  </a:cubicBezTo>
                  <a:lnTo>
                    <a:pt x="217869" y="82871"/>
                  </a:lnTo>
                  <a:lnTo>
                    <a:pt x="240705" y="82871"/>
                  </a:lnTo>
                  <a:lnTo>
                    <a:pt x="240705" y="55880"/>
                  </a:lnTo>
                  <a:lnTo>
                    <a:pt x="217869" y="55880"/>
                  </a:lnTo>
                  <a:lnTo>
                    <a:pt x="217869" y="9239"/>
                  </a:lnTo>
                  <a:lnTo>
                    <a:pt x="186318" y="9239"/>
                  </a:lnTo>
                  <a:lnTo>
                    <a:pt x="186318" y="125033"/>
                  </a:lnTo>
                  <a:cubicBezTo>
                    <a:pt x="186318" y="134797"/>
                    <a:pt x="187166" y="143109"/>
                    <a:pt x="188860" y="149725"/>
                  </a:cubicBezTo>
                  <a:cubicBezTo>
                    <a:pt x="190514" y="156261"/>
                    <a:pt x="193339" y="161628"/>
                    <a:pt x="197252" y="165622"/>
                  </a:cubicBezTo>
                  <a:cubicBezTo>
                    <a:pt x="201166" y="169616"/>
                    <a:pt x="206370" y="172521"/>
                    <a:pt x="212664" y="174256"/>
                  </a:cubicBezTo>
                  <a:cubicBezTo>
                    <a:pt x="219039" y="175991"/>
                    <a:pt x="227149" y="176919"/>
                    <a:pt x="236751" y="176919"/>
                  </a:cubicBezTo>
                  <a:lnTo>
                    <a:pt x="240705" y="176919"/>
                  </a:lnTo>
                  <a:close/>
                  <a:moveTo>
                    <a:pt x="421536" y="0"/>
                  </a:moveTo>
                  <a:lnTo>
                    <a:pt x="389985" y="0"/>
                  </a:lnTo>
                  <a:lnTo>
                    <a:pt x="389985" y="175668"/>
                  </a:lnTo>
                  <a:lnTo>
                    <a:pt x="421536" y="175668"/>
                  </a:lnTo>
                  <a:lnTo>
                    <a:pt x="421536" y="0"/>
                  </a:lnTo>
                  <a:close/>
                  <a:moveTo>
                    <a:pt x="155857" y="67701"/>
                  </a:moveTo>
                  <a:cubicBezTo>
                    <a:pt x="147102" y="58260"/>
                    <a:pt x="134756" y="53459"/>
                    <a:pt x="119142" y="53459"/>
                  </a:cubicBezTo>
                  <a:cubicBezTo>
                    <a:pt x="111597" y="53459"/>
                    <a:pt x="104658" y="55032"/>
                    <a:pt x="98444" y="58058"/>
                  </a:cubicBezTo>
                  <a:cubicBezTo>
                    <a:pt x="92231" y="61125"/>
                    <a:pt x="86946" y="65442"/>
                    <a:pt x="82750" y="70848"/>
                  </a:cubicBezTo>
                  <a:lnTo>
                    <a:pt x="81015" y="73067"/>
                  </a:lnTo>
                  <a:lnTo>
                    <a:pt x="81015" y="71090"/>
                  </a:lnTo>
                  <a:lnTo>
                    <a:pt x="81015" y="55920"/>
                  </a:lnTo>
                  <a:lnTo>
                    <a:pt x="49948" y="55920"/>
                  </a:lnTo>
                  <a:lnTo>
                    <a:pt x="49948" y="175708"/>
                  </a:lnTo>
                  <a:lnTo>
                    <a:pt x="81297" y="175708"/>
                  </a:lnTo>
                  <a:lnTo>
                    <a:pt x="81297" y="111880"/>
                  </a:lnTo>
                  <a:lnTo>
                    <a:pt x="81338" y="116319"/>
                  </a:lnTo>
                  <a:cubicBezTo>
                    <a:pt x="81338" y="115592"/>
                    <a:pt x="81338" y="114866"/>
                    <a:pt x="81378" y="114180"/>
                  </a:cubicBezTo>
                  <a:cubicBezTo>
                    <a:pt x="81701" y="103004"/>
                    <a:pt x="84485" y="94653"/>
                    <a:pt x="89689" y="89327"/>
                  </a:cubicBezTo>
                  <a:cubicBezTo>
                    <a:pt x="95217" y="83678"/>
                    <a:pt x="101955" y="80814"/>
                    <a:pt x="109701" y="80814"/>
                  </a:cubicBezTo>
                  <a:cubicBezTo>
                    <a:pt x="118819" y="80814"/>
                    <a:pt x="125759" y="83598"/>
                    <a:pt x="130358" y="89125"/>
                  </a:cubicBezTo>
                  <a:cubicBezTo>
                    <a:pt x="134877" y="94532"/>
                    <a:pt x="137177" y="102238"/>
                    <a:pt x="137217" y="112082"/>
                  </a:cubicBezTo>
                  <a:lnTo>
                    <a:pt x="137217" y="112082"/>
                  </a:lnTo>
                  <a:lnTo>
                    <a:pt x="137217" y="112324"/>
                  </a:lnTo>
                  <a:lnTo>
                    <a:pt x="137217" y="112365"/>
                  </a:lnTo>
                  <a:lnTo>
                    <a:pt x="137217" y="175708"/>
                  </a:lnTo>
                  <a:lnTo>
                    <a:pt x="169050" y="175708"/>
                  </a:lnTo>
                  <a:lnTo>
                    <a:pt x="169050" y="107684"/>
                  </a:lnTo>
                  <a:cubicBezTo>
                    <a:pt x="169091" y="90618"/>
                    <a:pt x="164612" y="77142"/>
                    <a:pt x="155857" y="67701"/>
                  </a:cubicBezTo>
                  <a:moveTo>
                    <a:pt x="373524" y="115552"/>
                  </a:moveTo>
                  <a:cubicBezTo>
                    <a:pt x="373524" y="106958"/>
                    <a:pt x="371991" y="98808"/>
                    <a:pt x="368965" y="91344"/>
                  </a:cubicBezTo>
                  <a:cubicBezTo>
                    <a:pt x="365939" y="83880"/>
                    <a:pt x="361662" y="77223"/>
                    <a:pt x="356256" y="71574"/>
                  </a:cubicBezTo>
                  <a:cubicBezTo>
                    <a:pt x="350850" y="65926"/>
                    <a:pt x="344273" y="61448"/>
                    <a:pt x="336729" y="58300"/>
                  </a:cubicBezTo>
                  <a:cubicBezTo>
                    <a:pt x="329184" y="55113"/>
                    <a:pt x="320752" y="53499"/>
                    <a:pt x="311674" y="53499"/>
                  </a:cubicBezTo>
                  <a:cubicBezTo>
                    <a:pt x="303080" y="53499"/>
                    <a:pt x="294890" y="55153"/>
                    <a:pt x="287345" y="58422"/>
                  </a:cubicBezTo>
                  <a:cubicBezTo>
                    <a:pt x="279800" y="61690"/>
                    <a:pt x="273143" y="66168"/>
                    <a:pt x="267575" y="71736"/>
                  </a:cubicBezTo>
                  <a:cubicBezTo>
                    <a:pt x="262008" y="77304"/>
                    <a:pt x="257529" y="83961"/>
                    <a:pt x="254261" y="91506"/>
                  </a:cubicBezTo>
                  <a:cubicBezTo>
                    <a:pt x="250993" y="99050"/>
                    <a:pt x="249339" y="107241"/>
                    <a:pt x="249339" y="115834"/>
                  </a:cubicBezTo>
                  <a:cubicBezTo>
                    <a:pt x="249339" y="124428"/>
                    <a:pt x="250912" y="132619"/>
                    <a:pt x="254019" y="140163"/>
                  </a:cubicBezTo>
                  <a:cubicBezTo>
                    <a:pt x="257126" y="147708"/>
                    <a:pt x="261483" y="154365"/>
                    <a:pt x="266970" y="159933"/>
                  </a:cubicBezTo>
                  <a:cubicBezTo>
                    <a:pt x="272457" y="165501"/>
                    <a:pt x="279195" y="169979"/>
                    <a:pt x="286982" y="173247"/>
                  </a:cubicBezTo>
                  <a:cubicBezTo>
                    <a:pt x="294769" y="176515"/>
                    <a:pt x="303403" y="178170"/>
                    <a:pt x="312642" y="178170"/>
                  </a:cubicBezTo>
                  <a:cubicBezTo>
                    <a:pt x="339351" y="178170"/>
                    <a:pt x="355974" y="166025"/>
                    <a:pt x="365939" y="154648"/>
                  </a:cubicBezTo>
                  <a:lnTo>
                    <a:pt x="343224" y="137339"/>
                  </a:lnTo>
                  <a:cubicBezTo>
                    <a:pt x="338423" y="143028"/>
                    <a:pt x="327086" y="150734"/>
                    <a:pt x="312884" y="150734"/>
                  </a:cubicBezTo>
                  <a:cubicBezTo>
                    <a:pt x="303968" y="150734"/>
                    <a:pt x="296665" y="148676"/>
                    <a:pt x="291097" y="144601"/>
                  </a:cubicBezTo>
                  <a:cubicBezTo>
                    <a:pt x="285529" y="140526"/>
                    <a:pt x="281697" y="134959"/>
                    <a:pt x="279720" y="127979"/>
                  </a:cubicBezTo>
                  <a:lnTo>
                    <a:pt x="279397" y="126849"/>
                  </a:lnTo>
                  <a:lnTo>
                    <a:pt x="373524" y="126849"/>
                  </a:lnTo>
                  <a:lnTo>
                    <a:pt x="373524" y="115552"/>
                  </a:lnTo>
                  <a:close/>
                  <a:moveTo>
                    <a:pt x="279720" y="104537"/>
                  </a:moveTo>
                  <a:cubicBezTo>
                    <a:pt x="279720" y="95782"/>
                    <a:pt x="289766" y="80451"/>
                    <a:pt x="311472" y="80451"/>
                  </a:cubicBezTo>
                  <a:cubicBezTo>
                    <a:pt x="333178" y="80451"/>
                    <a:pt x="343265" y="95742"/>
                    <a:pt x="343265" y="104497"/>
                  </a:cubicBezTo>
                  <a:lnTo>
                    <a:pt x="279720" y="104537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 b="0" i="0">
                <a:latin typeface="IntelOne Display Light" panose="020B0403020203020204" pitchFamily="34" charset="77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18374D-01B8-328C-1AB0-27E05DECD127}"/>
                </a:ext>
              </a:extLst>
            </p:cNvPr>
            <p:cNvSpPr/>
            <p:nvPr/>
          </p:nvSpPr>
          <p:spPr>
            <a:xfrm>
              <a:off x="11579820" y="6697641"/>
              <a:ext cx="33487" cy="33487"/>
            </a:xfrm>
            <a:custGeom>
              <a:avLst/>
              <a:gdLst>
                <a:gd name="connsiteX0" fmla="*/ 16744 w 33487"/>
                <a:gd name="connsiteY0" fmla="*/ 2380 h 33487"/>
                <a:gd name="connsiteX1" fmla="*/ 31107 w 33487"/>
                <a:gd name="connsiteY1" fmla="*/ 16744 h 33487"/>
                <a:gd name="connsiteX2" fmla="*/ 16744 w 33487"/>
                <a:gd name="connsiteY2" fmla="*/ 31107 h 33487"/>
                <a:gd name="connsiteX3" fmla="*/ 2380 w 33487"/>
                <a:gd name="connsiteY3" fmla="*/ 16744 h 33487"/>
                <a:gd name="connsiteX4" fmla="*/ 16744 w 33487"/>
                <a:gd name="connsiteY4" fmla="*/ 2380 h 33487"/>
                <a:gd name="connsiteX5" fmla="*/ 16744 w 33487"/>
                <a:gd name="connsiteY5" fmla="*/ 0 h 33487"/>
                <a:gd name="connsiteX6" fmla="*/ 0 w 33487"/>
                <a:gd name="connsiteY6" fmla="*/ 16744 h 33487"/>
                <a:gd name="connsiteX7" fmla="*/ 16744 w 33487"/>
                <a:gd name="connsiteY7" fmla="*/ 33487 h 33487"/>
                <a:gd name="connsiteX8" fmla="*/ 33487 w 33487"/>
                <a:gd name="connsiteY8" fmla="*/ 16744 h 33487"/>
                <a:gd name="connsiteX9" fmla="*/ 16744 w 33487"/>
                <a:gd name="connsiteY9" fmla="*/ 0 h 33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7" h="33487">
                  <a:moveTo>
                    <a:pt x="16744" y="2380"/>
                  </a:moveTo>
                  <a:cubicBezTo>
                    <a:pt x="24651" y="2380"/>
                    <a:pt x="31107" y="8836"/>
                    <a:pt x="31107" y="16744"/>
                  </a:cubicBezTo>
                  <a:cubicBezTo>
                    <a:pt x="31107" y="24652"/>
                    <a:pt x="24651" y="31107"/>
                    <a:pt x="16744" y="31107"/>
                  </a:cubicBezTo>
                  <a:cubicBezTo>
                    <a:pt x="8836" y="31107"/>
                    <a:pt x="2380" y="24652"/>
                    <a:pt x="2380" y="16744"/>
                  </a:cubicBezTo>
                  <a:cubicBezTo>
                    <a:pt x="2380" y="8836"/>
                    <a:pt x="8836" y="2380"/>
                    <a:pt x="16744" y="2380"/>
                  </a:cubicBezTo>
                  <a:moveTo>
                    <a:pt x="16744" y="0"/>
                  </a:moveTo>
                  <a:cubicBezTo>
                    <a:pt x="7504" y="0"/>
                    <a:pt x="0" y="7504"/>
                    <a:pt x="0" y="16744"/>
                  </a:cubicBezTo>
                  <a:cubicBezTo>
                    <a:pt x="0" y="25983"/>
                    <a:pt x="7504" y="33487"/>
                    <a:pt x="16744" y="33487"/>
                  </a:cubicBezTo>
                  <a:cubicBezTo>
                    <a:pt x="25983" y="33487"/>
                    <a:pt x="33487" y="25983"/>
                    <a:pt x="33487" y="16744"/>
                  </a:cubicBezTo>
                  <a:cubicBezTo>
                    <a:pt x="33487" y="7504"/>
                    <a:pt x="25983" y="0"/>
                    <a:pt x="16744" y="0"/>
                  </a:cubicBezTo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 b="0" i="0">
                <a:latin typeface="IntelOne Display Light" panose="020B0403020203020204" pitchFamily="34" charset="77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F70B3B1-E366-BEF7-E678-92B60D8939D3}"/>
                </a:ext>
              </a:extLst>
            </p:cNvPr>
            <p:cNvSpPr/>
            <p:nvPr/>
          </p:nvSpPr>
          <p:spPr>
            <a:xfrm>
              <a:off x="11590875" y="6705953"/>
              <a:ext cx="13031" cy="16743"/>
            </a:xfrm>
            <a:custGeom>
              <a:avLst/>
              <a:gdLst>
                <a:gd name="connsiteX0" fmla="*/ 6940 w 13031"/>
                <a:gd name="connsiteY0" fmla="*/ 40 h 16743"/>
                <a:gd name="connsiteX1" fmla="*/ 9764 w 13031"/>
                <a:gd name="connsiteY1" fmla="*/ 726 h 16743"/>
                <a:gd name="connsiteX2" fmla="*/ 11741 w 13031"/>
                <a:gd name="connsiteY2" fmla="*/ 2623 h 16743"/>
                <a:gd name="connsiteX3" fmla="*/ 12427 w 13031"/>
                <a:gd name="connsiteY3" fmla="*/ 5285 h 16743"/>
                <a:gd name="connsiteX4" fmla="*/ 11499 w 13031"/>
                <a:gd name="connsiteY4" fmla="*/ 8311 h 16743"/>
                <a:gd name="connsiteX5" fmla="*/ 9239 w 13031"/>
                <a:gd name="connsiteY5" fmla="*/ 10046 h 16743"/>
                <a:gd name="connsiteX6" fmla="*/ 13032 w 13031"/>
                <a:gd name="connsiteY6" fmla="*/ 16744 h 16743"/>
                <a:gd name="connsiteX7" fmla="*/ 10046 w 13031"/>
                <a:gd name="connsiteY7" fmla="*/ 16744 h 16743"/>
                <a:gd name="connsiteX8" fmla="*/ 6576 w 13031"/>
                <a:gd name="connsiteY8" fmla="*/ 10530 h 16743"/>
                <a:gd name="connsiteX9" fmla="*/ 2623 w 13031"/>
                <a:gd name="connsiteY9" fmla="*/ 10530 h 16743"/>
                <a:gd name="connsiteX10" fmla="*/ 2623 w 13031"/>
                <a:gd name="connsiteY10" fmla="*/ 16744 h 16743"/>
                <a:gd name="connsiteX11" fmla="*/ 0 w 13031"/>
                <a:gd name="connsiteY11" fmla="*/ 16744 h 16743"/>
                <a:gd name="connsiteX12" fmla="*/ 0 w 13031"/>
                <a:gd name="connsiteY12" fmla="*/ 0 h 16743"/>
                <a:gd name="connsiteX13" fmla="*/ 6940 w 13031"/>
                <a:gd name="connsiteY13" fmla="*/ 0 h 16743"/>
                <a:gd name="connsiteX14" fmla="*/ 6940 w 13031"/>
                <a:gd name="connsiteY14" fmla="*/ 8190 h 16743"/>
                <a:gd name="connsiteX15" fmla="*/ 8432 w 13031"/>
                <a:gd name="connsiteY15" fmla="*/ 7827 h 16743"/>
                <a:gd name="connsiteX16" fmla="*/ 9441 w 13031"/>
                <a:gd name="connsiteY16" fmla="*/ 6819 h 16743"/>
                <a:gd name="connsiteX17" fmla="*/ 9804 w 13031"/>
                <a:gd name="connsiteY17" fmla="*/ 5326 h 16743"/>
                <a:gd name="connsiteX18" fmla="*/ 9441 w 13031"/>
                <a:gd name="connsiteY18" fmla="*/ 3833 h 16743"/>
                <a:gd name="connsiteX19" fmla="*/ 8432 w 13031"/>
                <a:gd name="connsiteY19" fmla="*/ 2824 h 16743"/>
                <a:gd name="connsiteX20" fmla="*/ 6940 w 13031"/>
                <a:gd name="connsiteY20" fmla="*/ 2461 h 16743"/>
                <a:gd name="connsiteX21" fmla="*/ 2623 w 13031"/>
                <a:gd name="connsiteY21" fmla="*/ 2461 h 16743"/>
                <a:gd name="connsiteX22" fmla="*/ 2623 w 13031"/>
                <a:gd name="connsiteY22" fmla="*/ 8190 h 16743"/>
                <a:gd name="connsiteX23" fmla="*/ 6940 w 13031"/>
                <a:gd name="connsiteY23" fmla="*/ 8190 h 1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031" h="16743">
                  <a:moveTo>
                    <a:pt x="6940" y="40"/>
                  </a:moveTo>
                  <a:cubicBezTo>
                    <a:pt x="7989" y="40"/>
                    <a:pt x="8916" y="282"/>
                    <a:pt x="9764" y="726"/>
                  </a:cubicBezTo>
                  <a:cubicBezTo>
                    <a:pt x="10611" y="1170"/>
                    <a:pt x="11257" y="1816"/>
                    <a:pt x="11741" y="2623"/>
                  </a:cubicBezTo>
                  <a:cubicBezTo>
                    <a:pt x="12225" y="3429"/>
                    <a:pt x="12427" y="4317"/>
                    <a:pt x="12427" y="5285"/>
                  </a:cubicBezTo>
                  <a:cubicBezTo>
                    <a:pt x="12427" y="6496"/>
                    <a:pt x="12104" y="7504"/>
                    <a:pt x="11499" y="8311"/>
                  </a:cubicBezTo>
                  <a:cubicBezTo>
                    <a:pt x="10893" y="9118"/>
                    <a:pt x="10127" y="9683"/>
                    <a:pt x="9239" y="10046"/>
                  </a:cubicBezTo>
                  <a:lnTo>
                    <a:pt x="13032" y="16744"/>
                  </a:lnTo>
                  <a:lnTo>
                    <a:pt x="10046" y="16744"/>
                  </a:lnTo>
                  <a:lnTo>
                    <a:pt x="6576" y="10530"/>
                  </a:lnTo>
                  <a:lnTo>
                    <a:pt x="2623" y="10530"/>
                  </a:lnTo>
                  <a:lnTo>
                    <a:pt x="2623" y="16744"/>
                  </a:lnTo>
                  <a:lnTo>
                    <a:pt x="0" y="16744"/>
                  </a:lnTo>
                  <a:lnTo>
                    <a:pt x="0" y="0"/>
                  </a:lnTo>
                  <a:lnTo>
                    <a:pt x="6940" y="0"/>
                  </a:lnTo>
                  <a:close/>
                  <a:moveTo>
                    <a:pt x="6940" y="8190"/>
                  </a:moveTo>
                  <a:cubicBezTo>
                    <a:pt x="7504" y="8190"/>
                    <a:pt x="7989" y="8069"/>
                    <a:pt x="8432" y="7827"/>
                  </a:cubicBezTo>
                  <a:cubicBezTo>
                    <a:pt x="8876" y="7585"/>
                    <a:pt x="9199" y="7222"/>
                    <a:pt x="9441" y="6819"/>
                  </a:cubicBezTo>
                  <a:cubicBezTo>
                    <a:pt x="9683" y="6375"/>
                    <a:pt x="9804" y="5891"/>
                    <a:pt x="9804" y="5326"/>
                  </a:cubicBezTo>
                  <a:cubicBezTo>
                    <a:pt x="9804" y="4761"/>
                    <a:pt x="9683" y="4277"/>
                    <a:pt x="9441" y="3833"/>
                  </a:cubicBezTo>
                  <a:cubicBezTo>
                    <a:pt x="9199" y="3389"/>
                    <a:pt x="8836" y="3066"/>
                    <a:pt x="8432" y="2824"/>
                  </a:cubicBezTo>
                  <a:cubicBezTo>
                    <a:pt x="7989" y="2582"/>
                    <a:pt x="7504" y="2461"/>
                    <a:pt x="6940" y="2461"/>
                  </a:cubicBezTo>
                  <a:lnTo>
                    <a:pt x="2623" y="2461"/>
                  </a:lnTo>
                  <a:lnTo>
                    <a:pt x="2623" y="8190"/>
                  </a:lnTo>
                  <a:lnTo>
                    <a:pt x="6940" y="8190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 b="0" i="0">
                <a:latin typeface="IntelOne Display Light" panose="020B0403020203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653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742" r:id="rId9"/>
    <p:sldLayoutId id="2147483743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IntelOne Display Light" panose="020B0403020203020204" pitchFamily="34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IntelOne Display Regular" panose="020B0503020203020204" pitchFamily="34" charset="0"/>
        <a:buNone/>
        <a:defRPr sz="1800" b="0" i="0" kern="1200">
          <a:solidFill>
            <a:schemeClr val="tx1"/>
          </a:solidFill>
          <a:latin typeface="IntelOne Display Light" panose="020B0403020203020204" pitchFamily="34" charset="77"/>
          <a:ea typeface="+mn-ea"/>
          <a:cs typeface="+mn-cs"/>
        </a:defRPr>
      </a:lvl1pPr>
      <a:lvl2pPr marL="182563" indent="-182563" algn="l" defTabSz="914400" rtl="0" eaLnBrk="1" latinLnBrk="0" hangingPunct="1">
        <a:lnSpc>
          <a:spcPct val="100000"/>
        </a:lnSpc>
        <a:spcBef>
          <a:spcPts val="600"/>
        </a:spcBef>
        <a:buFont typeface="IntelOne Display Regular" panose="020B0503020203020204" pitchFamily="34" charset="0"/>
        <a:buChar char="•"/>
        <a:tabLst/>
        <a:defRPr sz="1600" b="0" i="0" kern="1200">
          <a:solidFill>
            <a:schemeClr val="tx1"/>
          </a:solidFill>
          <a:latin typeface="IntelOne Display Light" panose="020B0403020203020204" pitchFamily="34" charset="77"/>
          <a:ea typeface="+mn-ea"/>
          <a:cs typeface="+mn-cs"/>
        </a:defRPr>
      </a:lvl2pPr>
      <a:lvl3pPr marL="358775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stem Font Regular"/>
        <a:buChar char="-"/>
        <a:tabLst/>
        <a:defRPr sz="1400" b="0" i="0" kern="1200">
          <a:solidFill>
            <a:schemeClr val="tx1"/>
          </a:solidFill>
          <a:latin typeface="IntelOne Display Light" panose="020B0403020203020204" pitchFamily="34" charset="77"/>
          <a:ea typeface="+mn-ea"/>
          <a:cs typeface="+mn-cs"/>
        </a:defRPr>
      </a:lvl3pPr>
      <a:lvl4pPr marL="6350" indent="0" algn="l" defTabSz="914400" rtl="0" eaLnBrk="1" latinLnBrk="0" hangingPunct="1">
        <a:lnSpc>
          <a:spcPct val="100000"/>
        </a:lnSpc>
        <a:spcBef>
          <a:spcPts val="0"/>
        </a:spcBef>
        <a:buFont typeface="IntelOne Display Regular" panose="020B0503020203020204" pitchFamily="34" charset="0"/>
        <a:buNone/>
        <a:tabLst/>
        <a:defRPr sz="1400" b="0" i="0" kern="1200">
          <a:solidFill>
            <a:schemeClr val="tx1">
              <a:lumMod val="60000"/>
              <a:lumOff val="40000"/>
            </a:schemeClr>
          </a:solidFill>
          <a:latin typeface="IntelOne Display Light" panose="020B0403020203020204" pitchFamily="34" charset="77"/>
          <a:ea typeface="+mn-ea"/>
          <a:cs typeface="+mn-cs"/>
        </a:defRPr>
      </a:lvl4pPr>
      <a:lvl5pPr marL="6350" indent="0" algn="l" defTabSz="914400" rtl="0" eaLnBrk="1" latinLnBrk="0" hangingPunct="1">
        <a:lnSpc>
          <a:spcPct val="100000"/>
        </a:lnSpc>
        <a:spcBef>
          <a:spcPts val="1200"/>
        </a:spcBef>
        <a:buFont typeface="IntelOne Display Regular" panose="020B0503020203020204" pitchFamily="34" charset="0"/>
        <a:buNone/>
        <a:tabLst/>
        <a:defRPr sz="2000" b="0" i="0" kern="1200">
          <a:solidFill>
            <a:schemeClr val="tx2"/>
          </a:solidFill>
          <a:latin typeface="IntelOne Display Medium" panose="020B05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391">
          <p15:clr>
            <a:srgbClr val="F26B43"/>
          </p15:clr>
        </p15:guide>
        <p15:guide id="4" pos="286">
          <p15:clr>
            <a:srgbClr val="F26B43"/>
          </p15:clr>
        </p15:guide>
        <p15:guide id="5" orient="horz" pos="725">
          <p15:clr>
            <a:srgbClr val="F26B43"/>
          </p15:clr>
        </p15:guide>
        <p15:guide id="7" orient="horz" pos="3742">
          <p15:clr>
            <a:srgbClr val="F26B43"/>
          </p15:clr>
        </p15:guide>
        <p15:guide id="12" pos="3930">
          <p15:clr>
            <a:srgbClr val="F26B43"/>
          </p15:clr>
        </p15:guide>
        <p15:guide id="15" pos="6975">
          <p15:clr>
            <a:srgbClr val="F26B43"/>
          </p15:clr>
        </p15:guide>
        <p15:guide id="16" pos="3744">
          <p15:clr>
            <a:srgbClr val="F26B43"/>
          </p15:clr>
        </p15:guide>
        <p15:guide id="17" pos="5565">
          <p15:clr>
            <a:srgbClr val="F26B43"/>
          </p15:clr>
        </p15:guide>
        <p15:guide id="18" pos="2615">
          <p15:clr>
            <a:srgbClr val="F26B43"/>
          </p15:clr>
        </p15:guide>
        <p15:guide id="20" orient="horz" pos="845">
          <p15:clr>
            <a:srgbClr val="F26B43"/>
          </p15:clr>
        </p15:guide>
        <p15:guide id="21" pos="702">
          <p15:clr>
            <a:srgbClr val="F26B43"/>
          </p15:clr>
        </p15:guide>
        <p15:guide id="22" orient="horz" pos="288">
          <p15:clr>
            <a:srgbClr val="F26B43"/>
          </p15:clr>
        </p15:guide>
        <p15:guide id="23" orient="horz" pos="4026">
          <p15:clr>
            <a:srgbClr val="F26B43"/>
          </p15:clr>
        </p15:guide>
        <p15:guide id="24" pos="5757">
          <p15:clr>
            <a:srgbClr val="F26B43"/>
          </p15:clr>
        </p15:guide>
        <p15:guide id="25" pos="192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80228-angle-area-icons-content-computer-arrow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IntelOne Display AR Regular" panose="020B0503020203020204" pitchFamily="34" charset="-78"/>
              <a:cs typeface="IntelOne Display AR Regular" panose="020B0503020203020204" pitchFamily="34" charset="-78"/>
            </a:endParaRPr>
          </a:p>
        </p:txBody>
      </p:sp>
      <p:sp>
        <p:nvSpPr>
          <p:cNvPr id="5" name="Freeform: Shape 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IntelOne Display AR Regular" panose="020B0503020203020204" pitchFamily="34" charset="-78"/>
              <a:cs typeface="IntelOne Display AR Regular" panose="020B0503020203020204" pitchFamily="34" charset="-78"/>
            </a:endParaRPr>
          </a:p>
        </p:txBody>
      </p:sp>
      <p:sp>
        <p:nvSpPr>
          <p:cNvPr id="6" name="Freeform: Shape 5"/>
          <p:cNvSpPr/>
          <p:nvPr/>
        </p:nvSpPr>
        <p:spPr>
          <a:xfrm>
            <a:off x="-274320" y="14068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IntelOne Display AR Regular" panose="020B0503020203020204" pitchFamily="34" charset="-78"/>
              <a:cs typeface="IntelOne Display AR Regular" panose="020B0503020203020204" pitchFamily="34" charset="-7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7407" y="1250682"/>
            <a:ext cx="11740393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800" b="1" dirty="0">
                <a:solidFill>
                  <a:srgbClr val="224466"/>
                </a:solidFill>
                <a:latin typeface="+mj-lt"/>
                <a:cs typeface="IntelOne Display AR Regular" panose="020B0503020203020204" pitchFamily="34" charset="-78"/>
              </a:rPr>
              <a:t>A Research Roadmap for Physical AI Systems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+mj-lt"/>
              <a:cs typeface="IntelOne Display AR Regular" panose="020B0503020203020204" pitchFamily="34" charset="-7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200" y="3635640"/>
            <a:ext cx="1558119" cy="3693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1" u="none" strike="noStrike" dirty="0">
                <a:solidFill>
                  <a:srgbClr val="1F2328"/>
                </a:solidFill>
                <a:effectLst/>
                <a:uFillTx/>
                <a:latin typeface="IntelOne Display AR Regular" panose="020B0503020203020204" pitchFamily="34" charset="-78"/>
                <a:ea typeface="SegoeUI"/>
                <a:cs typeface="IntelOne Display AR Regular" panose="020B0503020203020204" pitchFamily="34" charset="-78"/>
              </a:rPr>
              <a:t>Arnab Raha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IntelOne Display AR Regular" panose="020B0503020203020204" pitchFamily="34" charset="-78"/>
              <a:cs typeface="IntelOne Display AR Regular" panose="020B0503020203020204" pitchFamily="34" charset="-7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200" y="4045320"/>
            <a:ext cx="7202778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2400" b="0" u="none" strike="noStrike" dirty="0">
                <a:solidFill>
                  <a:srgbClr val="1F2328"/>
                </a:solidFill>
                <a:effectLst/>
                <a:uFillTx/>
                <a:latin typeface="IntelOne Display AR Regular" panose="020B0503020203020204" pitchFamily="34" charset="-78"/>
                <a:ea typeface="SegoeUI"/>
                <a:cs typeface="IntelOne Display AR Regular" panose="020B0503020203020204" pitchFamily="34" charset="-78"/>
              </a:rPr>
              <a:t>Chief NPU Architect</a:t>
            </a:r>
          </a:p>
          <a:p>
            <a:r>
              <a:rPr lang="en-US" sz="2400" b="0" u="none" strike="noStrike" dirty="0">
                <a:solidFill>
                  <a:srgbClr val="1F2328"/>
                </a:solidFill>
                <a:effectLst/>
                <a:uFillTx/>
                <a:latin typeface="IntelOne Display AR Regular" panose="020B0503020203020204" pitchFamily="34" charset="-78"/>
                <a:ea typeface="SegoeUI"/>
                <a:cs typeface="IntelOne Display AR Regular" panose="020B0503020203020204" pitchFamily="34" charset="-78"/>
              </a:rPr>
              <a:t>Intel AI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IntelOne Display AR Regular" panose="020B0503020203020204" pitchFamily="34" charset="-78"/>
              <a:cs typeface="IntelOne Display AR Regular" panose="020B0503020203020204" pitchFamily="34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0895" y="5878137"/>
            <a:ext cx="8407751" cy="3693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 dirty="0">
                <a:solidFill>
                  <a:srgbClr val="1F2328"/>
                </a:solidFill>
                <a:effectLst/>
                <a:uFillTx/>
                <a:latin typeface="IntelOne Display AR Regular" panose="020B0503020203020204" pitchFamily="34" charset="-78"/>
                <a:ea typeface="SegoeUI"/>
                <a:cs typeface="IntelOne Display AR Regular" panose="020B0503020203020204" pitchFamily="34" charset="-78"/>
              </a:rPr>
              <a:t>IBM IEEE CAS/EDS – AI Compute Symposium – October 2026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IntelOne Display AR Regular" panose="020B0503020203020204" pitchFamily="34" charset="-78"/>
              <a:cs typeface="IntelOne Display AR Regular" panose="020B0503020203020204" pitchFamily="34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FB8F33-C0C5-AAE8-0CD3-8B7A1B10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37" y="0"/>
            <a:ext cx="10353762" cy="970450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</a:rPr>
              <a:t>Robotics is Entering the Physical AI Era</a:t>
            </a:r>
            <a:endParaRPr lang="en-US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5FE17-2F15-7696-799A-B76BB40B8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500" y="732772"/>
            <a:ext cx="6735118" cy="475356"/>
          </a:xfrm>
        </p:spPr>
        <p:txBody>
          <a:bodyPr>
            <a:normAutofit/>
          </a:bodyPr>
          <a:lstStyle/>
          <a:p>
            <a:pPr marL="36900"/>
            <a:r>
              <a:rPr lang="en-US" sz="2200" dirty="0"/>
              <a:t>Robotics Compute Architectures Must Evolve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690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BCE4F-670A-5951-C64C-39E0292FEAF8}"/>
              </a:ext>
            </a:extLst>
          </p:cNvPr>
          <p:cNvSpPr txBox="1"/>
          <p:nvPr/>
        </p:nvSpPr>
        <p:spPr>
          <a:xfrm>
            <a:off x="581892" y="1320800"/>
            <a:ext cx="40196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b="1" dirty="0"/>
              <a:t>Traditional Robotics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dirty="0"/>
              <a:t>Fixed programming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dirty="0"/>
              <a:t>Rule-based control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dirty="0"/>
              <a:t>Dedicated controllers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dirty="0"/>
              <a:t>Predictable workloads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98712-19C7-CD0B-E391-14EB864779C8}"/>
              </a:ext>
            </a:extLst>
          </p:cNvPr>
          <p:cNvSpPr txBox="1"/>
          <p:nvPr/>
        </p:nvSpPr>
        <p:spPr>
          <a:xfrm>
            <a:off x="4082485" y="1320800"/>
            <a:ext cx="32881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b="1" dirty="0"/>
              <a:t>Physical AI Robotics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dirty="0"/>
              <a:t>VLMs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dirty="0"/>
              <a:t>VLA Models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dirty="0"/>
              <a:t>Diffusion Policies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dirty="0"/>
              <a:t>Imitation Learning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dirty="0"/>
              <a:t>Autonomous Planning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C2F6F-1E49-24C3-D2E2-8CB5BE83C604}"/>
              </a:ext>
            </a:extLst>
          </p:cNvPr>
          <p:cNvSpPr txBox="1"/>
          <p:nvPr/>
        </p:nvSpPr>
        <p:spPr>
          <a:xfrm>
            <a:off x="1967346" y="3420190"/>
            <a:ext cx="31865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b="1" dirty="0"/>
              <a:t>New Challenge</a:t>
            </a:r>
          </a:p>
          <a:p>
            <a:pPr fontAlgn="t"/>
            <a:endParaRPr lang="en-US" b="1" dirty="0"/>
          </a:p>
          <a:p>
            <a:pPr fontAlgn="t"/>
            <a:r>
              <a:rPr lang="en-US" dirty="0"/>
              <a:t>Robots must:</a:t>
            </a:r>
          </a:p>
          <a:p>
            <a:pPr fontAlgn="t"/>
            <a:r>
              <a:rPr lang="en-US" dirty="0"/>
              <a:t>✅ Reason</a:t>
            </a:r>
            <a:br>
              <a:rPr lang="en-US" dirty="0"/>
            </a:br>
            <a:r>
              <a:rPr lang="en-US" dirty="0"/>
              <a:t>✅ Perceive</a:t>
            </a:r>
            <a:br>
              <a:rPr lang="en-US" dirty="0"/>
            </a:br>
            <a:r>
              <a:rPr lang="en-US" dirty="0"/>
              <a:t>✅ Plan</a:t>
            </a:r>
            <a:br>
              <a:rPr lang="en-US" dirty="0"/>
            </a:br>
            <a:r>
              <a:rPr lang="en-US" dirty="0"/>
              <a:t>✅ Act</a:t>
            </a:r>
            <a:br>
              <a:rPr lang="en-US" dirty="0"/>
            </a:br>
            <a:r>
              <a:rPr lang="en-US" dirty="0"/>
              <a:t>✅ Stabilize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All simultaneously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56B15C-796E-D065-039A-485C730F8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112" y="414620"/>
            <a:ext cx="4896533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3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279B1-32F0-00C3-34FF-D464E064D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53762" cy="970450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</a:rPr>
              <a:t>The Opportunity</a:t>
            </a:r>
            <a:endParaRPr lang="en-US" b="1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AA2C4EF-35AC-6644-D3EB-BCB9BE0C0508}"/>
                  </a:ext>
                </a:extLst>
              </p14:cNvPr>
              <p14:cNvContentPartPr/>
              <p14:nvPr/>
            </p14:nvContentPartPr>
            <p14:xfrm>
              <a:off x="-1917050" y="61782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AA2C4EF-35AC-6644-D3EB-BCB9BE0C05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926050" y="60882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509FBBAC-52E3-E255-FF7D-9AEC4B198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936" y="815899"/>
            <a:ext cx="6735118" cy="475356"/>
          </a:xfrm>
        </p:spPr>
        <p:txBody>
          <a:bodyPr>
            <a:normAutofit/>
          </a:bodyPr>
          <a:lstStyle/>
          <a:p>
            <a:pPr marL="36900"/>
            <a:r>
              <a:rPr lang="en-US" sz="2400" dirty="0"/>
              <a:t>Physical AI Market Inflection Point</a:t>
            </a:r>
          </a:p>
          <a:p>
            <a:pPr marL="36900"/>
            <a:endParaRPr lang="en-US" sz="2200" dirty="0"/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6900" indent="0">
              <a:buNone/>
            </a:pP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A05F0B-6EDB-BFC2-67E2-BEB8CABD8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215" y="0"/>
            <a:ext cx="4950785" cy="332925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ABC854A-6686-DDF9-701A-59590477C817}"/>
              </a:ext>
            </a:extLst>
          </p:cNvPr>
          <p:cNvSpPr txBox="1"/>
          <p:nvPr/>
        </p:nvSpPr>
        <p:spPr>
          <a:xfrm>
            <a:off x="7407564" y="4054764"/>
            <a:ext cx="43595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2000 TOPs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16 Cameras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256 GB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&lt;100 ms Vision to Action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D9BC4F7-F3E3-ACD0-7874-CCDF4AE597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576389"/>
            <a:ext cx="6716062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860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C97F9-FEB1-F767-5C3B-B7DC6AC66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98C61D-1C7B-1EB1-59FF-D16B260C42F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Why Current AI SoCs Are Not Enough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8BD09-E513-92E3-E35C-564971AA4B4D}"/>
              </a:ext>
            </a:extLst>
          </p:cNvPr>
          <p:cNvSpPr txBox="1"/>
          <p:nvPr/>
        </p:nvSpPr>
        <p:spPr>
          <a:xfrm>
            <a:off x="102200" y="674255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Monolithic NPU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1505A-2817-8D9C-A179-6C8E192138EE}"/>
              </a:ext>
            </a:extLst>
          </p:cNvPr>
          <p:cNvSpPr txBox="1"/>
          <p:nvPr/>
        </p:nvSpPr>
        <p:spPr>
          <a:xfrm>
            <a:off x="489528" y="1505527"/>
            <a:ext cx="310341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Single Large NPU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Planning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Perception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VLA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Safety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F64AF-B0DA-8052-0638-67799908B8BB}"/>
              </a:ext>
            </a:extLst>
          </p:cNvPr>
          <p:cNvSpPr txBox="1"/>
          <p:nvPr/>
        </p:nvSpPr>
        <p:spPr>
          <a:xfrm>
            <a:off x="3864229" y="3556852"/>
            <a:ext cx="352367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All workloads compete for: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Compute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Memory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Fabric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Scheduling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794835-3699-B7F4-F017-3829C06BF5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1801837">
            <a:off x="2242555" y="2524600"/>
            <a:ext cx="1630483" cy="12418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ED6D1F-E864-BF70-E486-19FE26AC8E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1801837">
            <a:off x="6145971" y="3960856"/>
            <a:ext cx="1630483" cy="12418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E9D80C-340E-E8F8-9483-1F4DF9AFFBA9}"/>
              </a:ext>
            </a:extLst>
          </p:cNvPr>
          <p:cNvSpPr txBox="1"/>
          <p:nvPr/>
        </p:nvSpPr>
        <p:spPr>
          <a:xfrm>
            <a:off x="8054108" y="4965496"/>
            <a:ext cx="317730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Result: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❌ Latency Variance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❌ Resource Contention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❌ Safety Challenges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❌ Scalability Limits</a:t>
            </a: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0624431-4168-FD1C-F503-9FCE4F19B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053" y="493669"/>
            <a:ext cx="6055947" cy="314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2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D4DF0-BC9E-58B1-6AE2-06931924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0B3B-3E6D-4E2E-75F7-C46359D2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F39A929-4D6A-8ED1-2AF6-29332D92425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The Robotics Brain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889AE-0DCF-D10D-492A-B95A8FE1B547}"/>
              </a:ext>
            </a:extLst>
          </p:cNvPr>
          <p:cNvSpPr txBox="1"/>
          <p:nvPr/>
        </p:nvSpPr>
        <p:spPr>
          <a:xfrm>
            <a:off x="2232649" y="4963710"/>
            <a:ext cx="87139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Observation</a:t>
            </a:r>
          </a:p>
          <a:p>
            <a:endParaRPr lang="en-US" sz="2400" b="1" dirty="0"/>
          </a:p>
          <a:p>
            <a:pPr lvl="1"/>
            <a:r>
              <a:rPr lang="en-US" sz="2400" dirty="0"/>
              <a:t>These workloads are fundamentally different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A single NPU cannot optimize all three simultaneously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BE40E0-20FF-B701-E7FA-6C0690CDA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649" y="454204"/>
            <a:ext cx="8316332" cy="450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68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AE88B-72DC-B773-EE80-45F629BE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6D65-1B58-F524-2CC2-E0823C52E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90FF2F-C191-393C-D107-B0BE8695B0F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Why Multi-NPU?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BD0759-2CC0-CCD9-826D-78E2940D81DD}"/>
              </a:ext>
            </a:extLst>
          </p:cNvPr>
          <p:cNvSpPr txBox="1"/>
          <p:nvPr/>
        </p:nvSpPr>
        <p:spPr>
          <a:xfrm>
            <a:off x="102199" y="674255"/>
            <a:ext cx="8919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Physical AI introduces three simultaneous execution domains: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893AC-70EC-EAAC-DC20-713BE66930C4}"/>
              </a:ext>
            </a:extLst>
          </p:cNvPr>
          <p:cNvSpPr txBox="1"/>
          <p:nvPr/>
        </p:nvSpPr>
        <p:spPr>
          <a:xfrm>
            <a:off x="354377" y="1335024"/>
            <a:ext cx="658733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System 0 : Real-Time Control (~1  kHz)</a:t>
            </a:r>
          </a:p>
          <a:p>
            <a:endParaRPr lang="en-US" sz="2000" dirty="0"/>
          </a:p>
          <a:p>
            <a:r>
              <a:rPr lang="en-US" sz="2000" dirty="0"/>
              <a:t>System 1 : Action Generation (10-200 Hz)</a:t>
            </a:r>
          </a:p>
          <a:p>
            <a:endParaRPr lang="en-US" sz="2000" dirty="0"/>
          </a:p>
          <a:p>
            <a:r>
              <a:rPr lang="en-US" sz="2000" dirty="0"/>
              <a:t>System 2 : Reasoning (1-7 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C232A-E0C4-3246-539D-FDE932328128}"/>
              </a:ext>
            </a:extLst>
          </p:cNvPr>
          <p:cNvSpPr txBox="1"/>
          <p:nvPr/>
        </p:nvSpPr>
        <p:spPr>
          <a:xfrm>
            <a:off x="102199" y="3093337"/>
            <a:ext cx="8919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Monolithic NPUs are not optimized for all three.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3F44A6-B358-91A9-CFBF-4A407538D07E}"/>
              </a:ext>
            </a:extLst>
          </p:cNvPr>
          <p:cNvSpPr txBox="1"/>
          <p:nvPr/>
        </p:nvSpPr>
        <p:spPr>
          <a:xfrm>
            <a:off x="102199" y="4563507"/>
            <a:ext cx="120326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Multi-NPU is not about achieving higher TOPs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about isolating cognitive functions operating at different timescales, safety domains, and resource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00101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BD255-CE4B-2CBD-B751-65CDF1F81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0C9B2-B41F-87A0-FD33-F6BA380B2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4FBB62-6D1E-3465-B2F0-EA7FE41DBBD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Introducing Multi-NPU Architecture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2F928C-43C6-A3E4-5D4B-5C0AC66B2816}"/>
              </a:ext>
            </a:extLst>
          </p:cNvPr>
          <p:cNvSpPr txBox="1"/>
          <p:nvPr/>
        </p:nvSpPr>
        <p:spPr>
          <a:xfrm>
            <a:off x="3258174" y="4842624"/>
            <a:ext cx="55219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dirty="0"/>
              <a:t>Each NPU optimized for a specific cognitive task.</a:t>
            </a:r>
          </a:p>
          <a:p>
            <a:pPr lvl="1" fontAlgn="t"/>
            <a:r>
              <a:rPr lang="en-US" b="1" dirty="0"/>
              <a:t>Benefits</a:t>
            </a:r>
          </a:p>
          <a:p>
            <a:pPr lvl="1" fontAlgn="t"/>
            <a:r>
              <a:rPr lang="en-US" dirty="0"/>
              <a:t>✅ Isolation</a:t>
            </a:r>
          </a:p>
          <a:p>
            <a:pPr lvl="1" fontAlgn="t"/>
            <a:r>
              <a:rPr lang="en-US" dirty="0"/>
              <a:t>✅ Deterministic Execution</a:t>
            </a:r>
          </a:p>
          <a:p>
            <a:pPr lvl="1" fontAlgn="t"/>
            <a:r>
              <a:rPr lang="en-US" dirty="0"/>
              <a:t>✅ Better Scaling</a:t>
            </a:r>
          </a:p>
          <a:p>
            <a:pPr lvl="1" fontAlgn="t"/>
            <a:r>
              <a:rPr lang="en-US" dirty="0"/>
              <a:t>✅ Improved Safety</a:t>
            </a:r>
          </a:p>
          <a:p>
            <a:pPr lvl="1" fontAlgn="t"/>
            <a:r>
              <a:rPr lang="en-US" dirty="0"/>
              <a:t>✅ Higher Utilization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3452F2-5017-3590-A7F9-EA011B24E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865" y="485225"/>
            <a:ext cx="6770597" cy="44142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491C408-412B-D170-02E7-6FB825736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37894" y="2537506"/>
            <a:ext cx="4314212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476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46C20-5000-C32C-C15A-2104910D9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86FE40C-AA22-1110-E08B-B993E255B58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Multi-NPU Solves Compute Scaling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408FE-C8AE-51F2-38DA-E68A17312A87}"/>
              </a:ext>
            </a:extLst>
          </p:cNvPr>
          <p:cNvSpPr txBox="1"/>
          <p:nvPr/>
        </p:nvSpPr>
        <p:spPr>
          <a:xfrm>
            <a:off x="179471" y="1785386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Traditional Scaling : One Giant NPU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B1230-214D-1BAF-4166-83DC58D880DE}"/>
              </a:ext>
            </a:extLst>
          </p:cNvPr>
          <p:cNvSpPr txBox="1"/>
          <p:nvPr/>
        </p:nvSpPr>
        <p:spPr>
          <a:xfrm>
            <a:off x="524848" y="2390971"/>
            <a:ext cx="310341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Problems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Bigger die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Higher cost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Yield loss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Power inefficiency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FE054-ED44-7E0D-2615-DCCCD986567B}"/>
              </a:ext>
            </a:extLst>
          </p:cNvPr>
          <p:cNvSpPr txBox="1"/>
          <p:nvPr/>
        </p:nvSpPr>
        <p:spPr>
          <a:xfrm>
            <a:off x="417452" y="4710223"/>
            <a:ext cx="509470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Benefits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Modular growth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Better yield with Tiled/Chiplet based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Product segmentation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Future scaling to 3000+ TOPs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E4940B-982D-792E-1FAA-C39B48CA6589}"/>
              </a:ext>
            </a:extLst>
          </p:cNvPr>
          <p:cNvSpPr txBox="1"/>
          <p:nvPr/>
        </p:nvSpPr>
        <p:spPr>
          <a:xfrm>
            <a:off x="179471" y="4212273"/>
            <a:ext cx="10469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Multi-NPU Scaling : </a:t>
            </a:r>
            <a:r>
              <a:rPr lang="en-US" sz="2400" b="1" dirty="0">
                <a:solidFill>
                  <a:srgbClr val="FF0000"/>
                </a:solidFill>
              </a:rPr>
              <a:t>N</a:t>
            </a:r>
            <a:r>
              <a:rPr lang="en-US" sz="2400" dirty="0"/>
              <a:t> instances of NPUs x </a:t>
            </a:r>
            <a:r>
              <a:rPr lang="en-US" sz="2400" b="1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 TOPs per NPU instance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6AD912-BDD2-A1FA-51BF-9864E3797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730" y="2182954"/>
            <a:ext cx="8820417" cy="202931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4F91CA-A33B-4542-0F94-B15B5AD87E7E}"/>
              </a:ext>
            </a:extLst>
          </p:cNvPr>
          <p:cNvSpPr txBox="1"/>
          <p:nvPr/>
        </p:nvSpPr>
        <p:spPr>
          <a:xfrm>
            <a:off x="179471" y="946839"/>
            <a:ext cx="6233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</a:rPr>
              <a:t>Challenge #1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  <a:sym typeface="Wingdings" panose="05000000000000000000" pitchFamily="2" charset="2"/>
              </a:rPr>
              <a:t>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</a:rPr>
              <a:t>2000 TOPs Requirement</a:t>
            </a:r>
            <a:endParaRPr lang="en-US" sz="2400" b="1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36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D64B7-AFE2-5105-FAFD-2CD1C663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2FDB81B-0711-19ED-32F7-BC1417B5DD9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Multi-NPU Solves Memory Bandwidth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DDF32-5CCE-60E7-DC48-E45C58383BC6}"/>
              </a:ext>
            </a:extLst>
          </p:cNvPr>
          <p:cNvSpPr txBox="1"/>
          <p:nvPr/>
        </p:nvSpPr>
        <p:spPr>
          <a:xfrm>
            <a:off x="179471" y="1785386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Monolithic Architecture : Shared DRAM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C02CA-468E-B683-3DE8-FA617FBED939}"/>
              </a:ext>
            </a:extLst>
          </p:cNvPr>
          <p:cNvSpPr txBox="1"/>
          <p:nvPr/>
        </p:nvSpPr>
        <p:spPr>
          <a:xfrm>
            <a:off x="479772" y="2316943"/>
            <a:ext cx="310341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Results: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Contention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Cache thrashing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Latency spikes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4239FA-7D0D-FA14-9A5F-E7FA28997614}"/>
              </a:ext>
            </a:extLst>
          </p:cNvPr>
          <p:cNvSpPr txBox="1"/>
          <p:nvPr/>
        </p:nvSpPr>
        <p:spPr>
          <a:xfrm>
            <a:off x="417452" y="4710223"/>
            <a:ext cx="454643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Benefits: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Distributed bandwidth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Lower latency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Localized data processing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Better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9FE14-C94E-ED19-B509-DC2C1160F0C3}"/>
              </a:ext>
            </a:extLst>
          </p:cNvPr>
          <p:cNvSpPr txBox="1"/>
          <p:nvPr/>
        </p:nvSpPr>
        <p:spPr>
          <a:xfrm>
            <a:off x="179471" y="4212273"/>
            <a:ext cx="10469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Multi-NPU Memory Hierarchy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8B75C4-BF6F-DC20-B358-376F90BD722F}"/>
              </a:ext>
            </a:extLst>
          </p:cNvPr>
          <p:cNvSpPr txBox="1"/>
          <p:nvPr/>
        </p:nvSpPr>
        <p:spPr>
          <a:xfrm>
            <a:off x="179471" y="946839"/>
            <a:ext cx="6233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</a:rPr>
              <a:t>Challenge #2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  <a:sym typeface="Wingdings" panose="05000000000000000000" pitchFamily="2" charset="2"/>
              </a:rPr>
              <a:t>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</a:rPr>
              <a:t>1 TB/s Bandwidth</a:t>
            </a:r>
            <a:endParaRPr lang="en-US" sz="2400" b="1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F6FC114-8B08-7C0B-D0AC-B068B82A2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219" y="2563288"/>
            <a:ext cx="7765781" cy="429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479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34881-2BC6-91FD-ACB5-DFD47170B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4EBE5FE-3779-DDB9-5662-A822FCFAD5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Multi-NPU Solves Vision-to-Action Latency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3A329-EC1F-B2C0-C0A0-2AE469458C6A}"/>
              </a:ext>
            </a:extLst>
          </p:cNvPr>
          <p:cNvSpPr txBox="1"/>
          <p:nvPr/>
        </p:nvSpPr>
        <p:spPr>
          <a:xfrm>
            <a:off x="179471" y="1785386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Current Pipeline : Sequential Execution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A42A9-B541-2DF2-D39D-19DE19D94181}"/>
              </a:ext>
            </a:extLst>
          </p:cNvPr>
          <p:cNvSpPr txBox="1"/>
          <p:nvPr/>
        </p:nvSpPr>
        <p:spPr>
          <a:xfrm>
            <a:off x="479771" y="2316943"/>
            <a:ext cx="434336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Results: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Latency accumulation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AI tasks block control decisions 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Resource contention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Poor scalability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Jitter and Unpredictability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CC58FD-CFB3-0E03-2DFB-416B13535100}"/>
              </a:ext>
            </a:extLst>
          </p:cNvPr>
          <p:cNvSpPr txBox="1"/>
          <p:nvPr/>
        </p:nvSpPr>
        <p:spPr>
          <a:xfrm>
            <a:off x="417452" y="4961356"/>
            <a:ext cx="45464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Benefits: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Reduced latency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Higher throughput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Concurrent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F7F94-E0EE-3C34-155F-B1EEA4E911E4}"/>
              </a:ext>
            </a:extLst>
          </p:cNvPr>
          <p:cNvSpPr txBox="1"/>
          <p:nvPr/>
        </p:nvSpPr>
        <p:spPr>
          <a:xfrm>
            <a:off x="179471" y="4392575"/>
            <a:ext cx="10469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Multi-NPU Pipeline : Parallel Execution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847156-A9E9-8E98-33B0-1ED52E1D713B}"/>
              </a:ext>
            </a:extLst>
          </p:cNvPr>
          <p:cNvSpPr txBox="1"/>
          <p:nvPr/>
        </p:nvSpPr>
        <p:spPr>
          <a:xfrm>
            <a:off x="179471" y="946839"/>
            <a:ext cx="6233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</a:rPr>
              <a:t>Challenge #3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  <a:sym typeface="Wingdings" panose="05000000000000000000" pitchFamily="2" charset="2"/>
              </a:rPr>
              <a:t>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</a:rPr>
              <a:t> &lt;100 ms Response</a:t>
            </a:r>
            <a:endParaRPr lang="en-US" sz="2400" b="1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1BB036-A994-6ABD-B4F1-559B053D6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660" y="1608860"/>
            <a:ext cx="6531735" cy="345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18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5892B-C780-98EB-09D5-C12CE2AC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93F4CF9-31A0-1741-DA54-EA37F4677B6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Multi-NPU Solves Real-Time Determinism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1C75B-6330-9C33-A5BC-A945558E1911}"/>
              </a:ext>
            </a:extLst>
          </p:cNvPr>
          <p:cNvSpPr txBox="1"/>
          <p:nvPr/>
        </p:nvSpPr>
        <p:spPr>
          <a:xfrm>
            <a:off x="179471" y="1785386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Current Risk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B3750-90C3-0AC8-4C37-5D797C916834}"/>
              </a:ext>
            </a:extLst>
          </p:cNvPr>
          <p:cNvSpPr txBox="1"/>
          <p:nvPr/>
        </p:nvSpPr>
        <p:spPr>
          <a:xfrm>
            <a:off x="524848" y="2390971"/>
            <a:ext cx="351911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Potential Instability: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VLM Spike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Memory Congestion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Control Misses Deadline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A33288-4005-4DF5-AA21-F9A592BDE46B}"/>
              </a:ext>
            </a:extLst>
          </p:cNvPr>
          <p:cNvSpPr txBox="1"/>
          <p:nvPr/>
        </p:nvSpPr>
        <p:spPr>
          <a:xfrm>
            <a:off x="365937" y="5110942"/>
            <a:ext cx="45464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Benefits: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Hard real-time operation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Bounded latency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No AI interference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39C08-3889-BDE1-F0B4-200671102B7A}"/>
              </a:ext>
            </a:extLst>
          </p:cNvPr>
          <p:cNvSpPr txBox="1"/>
          <p:nvPr/>
        </p:nvSpPr>
        <p:spPr>
          <a:xfrm>
            <a:off x="179471" y="4212273"/>
            <a:ext cx="1201252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Dedicated Real-Time NPU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System 0 NPU (Reserved Resources, Reserved Bandwidth and Reserved Memory)</a:t>
            </a:r>
          </a:p>
          <a:p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537C90-DE53-C5D2-1EBB-DE2727B8436F}"/>
              </a:ext>
            </a:extLst>
          </p:cNvPr>
          <p:cNvSpPr txBox="1"/>
          <p:nvPr/>
        </p:nvSpPr>
        <p:spPr>
          <a:xfrm>
            <a:off x="179471" y="946839"/>
            <a:ext cx="6233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</a:rPr>
              <a:t>Challenge #4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  <a:sym typeface="Wingdings" panose="05000000000000000000" pitchFamily="2" charset="2"/>
              </a:rPr>
              <a:t>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</a:rPr>
              <a:t> 1 kHz Control Loop</a:t>
            </a:r>
            <a:endParaRPr lang="en-US" sz="2400" b="1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366FC5-7F16-158A-6DC9-20AC0A74C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737" y="0"/>
            <a:ext cx="4317484" cy="46069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1BEDDF-D630-B333-DA2A-DCE0624F7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825" y="5251649"/>
            <a:ext cx="7059010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94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105B3-0E45-EBC0-20FB-14244D042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32CA55C-425A-07FA-F72A-607DD144DAA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Multi-NPU Solves Functional Safety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D82F5-32C2-F073-1337-4154B1E7DBBE}"/>
              </a:ext>
            </a:extLst>
          </p:cNvPr>
          <p:cNvSpPr txBox="1"/>
          <p:nvPr/>
        </p:nvSpPr>
        <p:spPr>
          <a:xfrm>
            <a:off x="179471" y="1262936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Traditional Architecture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C48D9-2283-0A54-F69C-FC8C8B1F3A88}"/>
              </a:ext>
            </a:extLst>
          </p:cNvPr>
          <p:cNvSpPr txBox="1"/>
          <p:nvPr/>
        </p:nvSpPr>
        <p:spPr>
          <a:xfrm>
            <a:off x="221106" y="1602451"/>
            <a:ext cx="434336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Problems: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Safety shares resources with AI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Single point of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A8C3B-9CDC-C48A-9006-EBD95AE4564F}"/>
              </a:ext>
            </a:extLst>
          </p:cNvPr>
          <p:cNvSpPr txBox="1"/>
          <p:nvPr/>
        </p:nvSpPr>
        <p:spPr>
          <a:xfrm>
            <a:off x="221106" y="2718615"/>
            <a:ext cx="468574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Safety Island NPU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Functions: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Emergency stop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Torque limits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Action validation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Human proximity monitoring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Benefits :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Independent power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Protected memory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Secure boot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Lockstep execution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368676-6580-ADBC-B39E-6B6D864B16A3}"/>
              </a:ext>
            </a:extLst>
          </p:cNvPr>
          <p:cNvSpPr txBox="1"/>
          <p:nvPr/>
        </p:nvSpPr>
        <p:spPr>
          <a:xfrm>
            <a:off x="179471" y="648153"/>
            <a:ext cx="6233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</a:rPr>
              <a:t>Challenge #5 – Safe Physical Actions</a:t>
            </a:r>
            <a:endParaRPr lang="en-US" sz="2400" b="1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0023D9-7678-8E51-895E-B5EE78A94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620" y="1351273"/>
            <a:ext cx="7845379" cy="41737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ED4319-9297-CD60-9BF9-A0CD581F4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725" y="5525037"/>
            <a:ext cx="7878274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84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F2958-F17F-4C04-F62C-81AE2DA28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D0A8E3D-0D54-6F3A-091C-FE2CDCC47CD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Multi-NPU Solves Camera Scaling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5187A-EC04-9A40-307B-7D428D01DBF8}"/>
              </a:ext>
            </a:extLst>
          </p:cNvPr>
          <p:cNvSpPr txBox="1"/>
          <p:nvPr/>
        </p:nvSpPr>
        <p:spPr>
          <a:xfrm>
            <a:off x="179471" y="1785386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Future Humanoid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4B3F8-D434-1F8E-54D0-79EE10FB7EE7}"/>
              </a:ext>
            </a:extLst>
          </p:cNvPr>
          <p:cNvSpPr txBox="1"/>
          <p:nvPr/>
        </p:nvSpPr>
        <p:spPr>
          <a:xfrm>
            <a:off x="212312" y="2182954"/>
            <a:ext cx="310341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16 Cameras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Force Sensors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Audio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Tactile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21918-9FD7-3E64-8149-329AD78CA75A}"/>
              </a:ext>
            </a:extLst>
          </p:cNvPr>
          <p:cNvSpPr txBox="1"/>
          <p:nvPr/>
        </p:nvSpPr>
        <p:spPr>
          <a:xfrm>
            <a:off x="212312" y="4624558"/>
            <a:ext cx="45464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Benefits: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Linear camera scaling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Reduced memory traffic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✅ Lower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D9AA6-8E4B-D1E5-DADB-90C4A1C8A847}"/>
              </a:ext>
            </a:extLst>
          </p:cNvPr>
          <p:cNvSpPr txBox="1"/>
          <p:nvPr/>
        </p:nvSpPr>
        <p:spPr>
          <a:xfrm>
            <a:off x="179471" y="4212273"/>
            <a:ext cx="10469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Distributed Sensor Fabric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A7BF77-3DEF-C28C-F306-33730FC63181}"/>
              </a:ext>
            </a:extLst>
          </p:cNvPr>
          <p:cNvSpPr txBox="1"/>
          <p:nvPr/>
        </p:nvSpPr>
        <p:spPr>
          <a:xfrm>
            <a:off x="179471" y="946839"/>
            <a:ext cx="6233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</a:rPr>
              <a:t>Challenge #6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  <a:sym typeface="Wingdings" panose="05000000000000000000" pitchFamily="2" charset="2"/>
              </a:rPr>
              <a:t>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</a:rPr>
              <a:t> 16 Camera Robotics</a:t>
            </a:r>
            <a:endParaRPr lang="en-US" sz="2400" b="1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3449E2-966E-1679-AE09-615E8EB6F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622" y="1382735"/>
            <a:ext cx="8265378" cy="39297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87EA04-2745-1366-9C90-282DA6BBC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680" y="5277918"/>
            <a:ext cx="8287907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32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A86A-2B28-285C-A439-8B93CF7D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FE4C-85FA-0361-934A-F6E23A23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B5919F-83DB-567A-75A4-DDE2928B075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Monolithic NPU Vs Multi-NPU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116B16-9913-508A-C00C-B9962F35A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27" y="430784"/>
            <a:ext cx="10192024" cy="642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063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8D311-B5FA-1C0D-331A-C620BF522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E452FA6-AC2C-B7E8-A282-642CA45F2FA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Hardware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695D9-E56E-E33F-E884-8AFC0D70E0B0}"/>
              </a:ext>
            </a:extLst>
          </p:cNvPr>
          <p:cNvSpPr txBox="1"/>
          <p:nvPr/>
        </p:nvSpPr>
        <p:spPr>
          <a:xfrm>
            <a:off x="179471" y="1785386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Key HW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FF479-1906-4E6D-F969-E0BD2B2F4B2D}"/>
              </a:ext>
            </a:extLst>
          </p:cNvPr>
          <p:cNvSpPr txBox="1"/>
          <p:nvPr/>
        </p:nvSpPr>
        <p:spPr>
          <a:xfrm>
            <a:off x="225189" y="2182954"/>
            <a:ext cx="393468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4-16 NPUs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Unified Address Space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QoS Aware Fabric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TSN Support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16 Camera Support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Functional 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6C7F62-C7F3-DEC2-E6C0-6D9A1B3F764A}"/>
              </a:ext>
            </a:extLst>
          </p:cNvPr>
          <p:cNvSpPr txBox="1"/>
          <p:nvPr/>
        </p:nvSpPr>
        <p:spPr>
          <a:xfrm>
            <a:off x="179471" y="946839"/>
            <a:ext cx="6233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Robotics Multi-NPU SoC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DD178D-E466-D1B2-DA63-3532305D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959" y="1408504"/>
            <a:ext cx="8817996" cy="513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08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8D974-D8E1-6653-EC5E-9242BBF32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30196DE-C2CF-614C-5E57-79A60532707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pPr fontAlgn="t"/>
            <a:r>
              <a:rPr lang="en-US" b="1" dirty="0"/>
              <a:t>The Fabric Is the Computer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C5F435-AA6C-6F94-D811-27377583022D}"/>
              </a:ext>
            </a:extLst>
          </p:cNvPr>
          <p:cNvSpPr txBox="1"/>
          <p:nvPr/>
        </p:nvSpPr>
        <p:spPr>
          <a:xfrm>
            <a:off x="179471" y="1785386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Today’s Focus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1F30DE-A406-3851-DB99-9D498487E5E1}"/>
              </a:ext>
            </a:extLst>
          </p:cNvPr>
          <p:cNvSpPr txBox="1"/>
          <p:nvPr/>
        </p:nvSpPr>
        <p:spPr>
          <a:xfrm>
            <a:off x="460454" y="2164057"/>
            <a:ext cx="351911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More NPUs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More TOPs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More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CB51F7-3CE1-971D-14E7-4C078F5719F2}"/>
              </a:ext>
            </a:extLst>
          </p:cNvPr>
          <p:cNvSpPr txBox="1"/>
          <p:nvPr/>
        </p:nvSpPr>
        <p:spPr>
          <a:xfrm>
            <a:off x="179470" y="3510504"/>
            <a:ext cx="1201252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Tomorrow’s Bottleneck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Moving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Synchronizing State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Sharing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Meeting Deadlines</a:t>
            </a:r>
          </a:p>
          <a:p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C23D8F-CCCE-ED20-C5E1-49216C90E88E}"/>
              </a:ext>
            </a:extLst>
          </p:cNvPr>
          <p:cNvSpPr txBox="1"/>
          <p:nvPr/>
        </p:nvSpPr>
        <p:spPr>
          <a:xfrm>
            <a:off x="102197" y="739617"/>
            <a:ext cx="10353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+mn-lt"/>
              </a:rPr>
              <a:t>Inter-NPU Communication Will Define Multi-NPU Scalability</a:t>
            </a:r>
            <a:endParaRPr lang="en-US" sz="2400" b="1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E78C76-FD5A-90E3-DADF-7D3F412B9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13" y="1220192"/>
            <a:ext cx="6837255" cy="56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87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5C36E-6CC4-71C6-8751-271F27ACB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1FAA4B8-BC8F-55CC-4514-2246F847557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pPr fontAlgn="t"/>
            <a:r>
              <a:rPr lang="en-US" b="1" dirty="0"/>
              <a:t>Multi-NPU Creates New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6D7342-F1BD-843B-AD93-F75677792BA5}"/>
              </a:ext>
            </a:extLst>
          </p:cNvPr>
          <p:cNvSpPr txBox="1"/>
          <p:nvPr/>
        </p:nvSpPr>
        <p:spPr>
          <a:xfrm>
            <a:off x="109054" y="2744175"/>
            <a:ext cx="433415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New Challenges</a:t>
            </a:r>
          </a:p>
          <a:p>
            <a:pPr lvl="1"/>
            <a:r>
              <a:rPr lang="en-US" sz="2000" dirty="0"/>
              <a:t>⚠ Fabric bandwidth</a:t>
            </a:r>
          </a:p>
          <a:p>
            <a:pPr lvl="1"/>
            <a:r>
              <a:rPr lang="en-US" sz="2000" dirty="0"/>
              <a:t>⚠ Synchronization</a:t>
            </a:r>
          </a:p>
          <a:p>
            <a:pPr lvl="1"/>
            <a:r>
              <a:rPr lang="en-US" sz="2000" dirty="0"/>
              <a:t>⚠ Data locality</a:t>
            </a:r>
          </a:p>
          <a:p>
            <a:pPr lvl="1"/>
            <a:r>
              <a:rPr lang="en-US" sz="2000" dirty="0"/>
              <a:t>⚠ Memory coherence</a:t>
            </a:r>
          </a:p>
          <a:p>
            <a:pPr lvl="1"/>
            <a:r>
              <a:rPr lang="en-US" sz="2000" dirty="0"/>
              <a:t>⚠ Distributed scheduling</a:t>
            </a:r>
          </a:p>
          <a:p>
            <a:pPr lvl="1"/>
            <a:r>
              <a:rPr lang="en-US" sz="2000" dirty="0"/>
              <a:t>⚠ Runtime complexity</a:t>
            </a:r>
          </a:p>
          <a:p>
            <a:pPr lvl="1"/>
            <a:r>
              <a:rPr lang="en-US" sz="2000" dirty="0"/>
              <a:t>⚠ Software fragmentation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74B7B-7771-C148-BA79-0E93460F9480}"/>
              </a:ext>
            </a:extLst>
          </p:cNvPr>
          <p:cNvSpPr txBox="1"/>
          <p:nvPr/>
        </p:nvSpPr>
        <p:spPr>
          <a:xfrm>
            <a:off x="109054" y="861719"/>
            <a:ext cx="433415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Benefits</a:t>
            </a:r>
          </a:p>
          <a:p>
            <a:pPr lvl="1" fontAlgn="t"/>
            <a:r>
              <a:rPr lang="en-US" sz="2000" dirty="0"/>
              <a:t>✅ Specialization</a:t>
            </a:r>
          </a:p>
          <a:p>
            <a:pPr lvl="1" fontAlgn="t"/>
            <a:r>
              <a:rPr lang="en-US" sz="2000" dirty="0"/>
              <a:t>✅ Isolation</a:t>
            </a:r>
          </a:p>
          <a:p>
            <a:pPr lvl="1" fontAlgn="t"/>
            <a:r>
              <a:rPr lang="en-US" sz="2000" dirty="0"/>
              <a:t>✅ Modularity</a:t>
            </a:r>
          </a:p>
          <a:p>
            <a:pPr lvl="1" fontAlgn="t"/>
            <a:r>
              <a:rPr lang="en-US" sz="2000" dirty="0"/>
              <a:t>✅ Scalability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6610DC-EF86-CB4B-8965-CC2AEBC909DD}"/>
              </a:ext>
            </a:extLst>
          </p:cNvPr>
          <p:cNvSpPr txBox="1"/>
          <p:nvPr/>
        </p:nvSpPr>
        <p:spPr>
          <a:xfrm>
            <a:off x="315533" y="5549961"/>
            <a:ext cx="11352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Multi-NPU is not a free scaling mechanism. It shifts the challenge from computation to communication, orchestration, and memory management.</a:t>
            </a:r>
          </a:p>
        </p:txBody>
      </p:sp>
    </p:spTree>
    <p:extLst>
      <p:ext uri="{BB962C8B-B14F-4D97-AF65-F5344CB8AC3E}">
        <p14:creationId xmlns:p14="http://schemas.microsoft.com/office/powerpoint/2010/main" val="2547233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C6722-1BB6-C4EC-7F24-4DE4A0A7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2DC3CDE-A794-302B-3013-94D325AB08B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Software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B087F-4F39-94FA-1CE7-BB31677ADEB0}"/>
              </a:ext>
            </a:extLst>
          </p:cNvPr>
          <p:cNvSpPr txBox="1"/>
          <p:nvPr/>
        </p:nvSpPr>
        <p:spPr>
          <a:xfrm>
            <a:off x="179471" y="1785386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Key SW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0A4BD-9F59-4AC0-84AF-8706DF090D07}"/>
              </a:ext>
            </a:extLst>
          </p:cNvPr>
          <p:cNvSpPr txBox="1"/>
          <p:nvPr/>
        </p:nvSpPr>
        <p:spPr>
          <a:xfrm>
            <a:off x="225189" y="2182954"/>
            <a:ext cx="39346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Model Placement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NPU Scheduling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Resource Management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Safety Enforcement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95FC3D-2DA1-85AD-8F61-24AD4BE9912C}"/>
              </a:ext>
            </a:extLst>
          </p:cNvPr>
          <p:cNvSpPr txBox="1"/>
          <p:nvPr/>
        </p:nvSpPr>
        <p:spPr>
          <a:xfrm>
            <a:off x="179471" y="946839"/>
            <a:ext cx="6233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Robotics Distributed Runtime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76EB5-9B50-911B-9C07-D002F98B5821}"/>
              </a:ext>
            </a:extLst>
          </p:cNvPr>
          <p:cNvSpPr txBox="1"/>
          <p:nvPr/>
        </p:nvSpPr>
        <p:spPr>
          <a:xfrm>
            <a:off x="2926627" y="6469524"/>
            <a:ext cx="937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Software Stack : </a:t>
            </a:r>
            <a:r>
              <a:rPr lang="en-US" sz="2400" b="1" dirty="0">
                <a:solidFill>
                  <a:srgbClr val="FF0000"/>
                </a:solidFill>
              </a:rPr>
              <a:t>OpenVINO + ROS 2 + Real-Time Linux + </a:t>
            </a:r>
            <a:r>
              <a:rPr lang="en-US" sz="2400" b="1" dirty="0" err="1">
                <a:solidFill>
                  <a:srgbClr val="FF0000"/>
                </a:solidFill>
              </a:rPr>
              <a:t>oneAPI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AA7678-7188-C108-AC53-DEFAAAEE6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905" y="1468192"/>
            <a:ext cx="8698142" cy="505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38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0652-2623-3700-C1F2-DC7A442B9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4FF7486-648D-95D6-CD7B-63B0C0EB32A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Software Architecture : Layer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9153D8-54E0-99A4-4A10-1E90786A5CC0}"/>
              </a:ext>
            </a:extLst>
          </p:cNvPr>
          <p:cNvSpPr txBox="1"/>
          <p:nvPr/>
        </p:nvSpPr>
        <p:spPr>
          <a:xfrm>
            <a:off x="179471" y="1785386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52E15-226A-6741-51AB-2B0218375311}"/>
              </a:ext>
            </a:extLst>
          </p:cNvPr>
          <p:cNvSpPr txBox="1"/>
          <p:nvPr/>
        </p:nvSpPr>
        <p:spPr>
          <a:xfrm>
            <a:off x="225189" y="2182954"/>
            <a:ext cx="1153322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Model Optimization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Converts (PyTorch, TensorFlow, JAX, ONNX) into optimized execution graph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Model Quantization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Supports FP32, FP16, INT8, INT4, FP4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Hardware Abstraction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Developer writes : deploy (model)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OpenVINO decides :</a:t>
            </a:r>
          </a:p>
          <a:p>
            <a:pPr marL="1257300" lvl="2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CPU</a:t>
            </a:r>
          </a:p>
          <a:p>
            <a:pPr marL="1257300" lvl="2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GPU</a:t>
            </a:r>
          </a:p>
          <a:p>
            <a:pPr marL="1257300" lvl="2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Planner NPU</a:t>
            </a:r>
          </a:p>
          <a:p>
            <a:pPr marL="1257300" lvl="2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VLA NPU</a:t>
            </a:r>
          </a:p>
          <a:p>
            <a:pPr marL="1257300" lvl="2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RT NPU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F6CAA2-7674-256C-D8F4-6DBCC0F4E36D}"/>
              </a:ext>
            </a:extLst>
          </p:cNvPr>
          <p:cNvSpPr txBox="1"/>
          <p:nvPr/>
        </p:nvSpPr>
        <p:spPr>
          <a:xfrm>
            <a:off x="179470" y="946839"/>
            <a:ext cx="820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OpenVINO : The AI deployment framework for Robotics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599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3305E-604C-E2F4-7C05-12E9AE8D6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97844D-527F-8BA5-5466-6CDF89A38ED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Software Architecture : Layer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333935-DBAE-E9D1-5CC4-83C68278D0DB}"/>
              </a:ext>
            </a:extLst>
          </p:cNvPr>
          <p:cNvSpPr txBox="1"/>
          <p:nvPr/>
        </p:nvSpPr>
        <p:spPr>
          <a:xfrm>
            <a:off x="179471" y="1785386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Responsibilities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8DFD48-FA8F-C0F6-3A37-3467A1602CB7}"/>
              </a:ext>
            </a:extLst>
          </p:cNvPr>
          <p:cNvSpPr txBox="1"/>
          <p:nvPr/>
        </p:nvSpPr>
        <p:spPr>
          <a:xfrm>
            <a:off x="225189" y="2182954"/>
            <a:ext cx="1153322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Device Management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Sensors (Cameras, Lidar, IMU, Force sensors)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Robotics Services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Mapping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Localization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Motion Planning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State estimation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Communication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DDS Middleware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Publisher/Subscriber Architecture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535EC1-603A-87DE-2EC0-850CE26BD6A7}"/>
              </a:ext>
            </a:extLst>
          </p:cNvPr>
          <p:cNvSpPr txBox="1"/>
          <p:nvPr/>
        </p:nvSpPr>
        <p:spPr>
          <a:xfrm>
            <a:off x="179470" y="946839"/>
            <a:ext cx="820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dirty="0"/>
              <a:t>ROS 2</a:t>
            </a:r>
            <a:r>
              <a:rPr lang="en-US" sz="2400" b="1" i="0" dirty="0">
                <a:effectLst/>
                <a:latin typeface="+mn-lt"/>
              </a:rPr>
              <a:t> : The application framework of robotics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678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3D0AE-4FAF-67AF-D811-015F5194B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B0B29D3-3E48-7ECB-2E4F-B790D0D479E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Software Architecture : Layer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BDBE4-CB61-8624-02D3-DA58150263ED}"/>
              </a:ext>
            </a:extLst>
          </p:cNvPr>
          <p:cNvSpPr txBox="1"/>
          <p:nvPr/>
        </p:nvSpPr>
        <p:spPr>
          <a:xfrm>
            <a:off x="179471" y="1785386"/>
            <a:ext cx="765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Role : Provides the 1 kHz+ Control Loop Support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D6A488-10BF-BCEC-1735-A01152F0FBD7}"/>
              </a:ext>
            </a:extLst>
          </p:cNvPr>
          <p:cNvSpPr txBox="1"/>
          <p:nvPr/>
        </p:nvSpPr>
        <p:spPr>
          <a:xfrm>
            <a:off x="225189" y="2182954"/>
            <a:ext cx="1153322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Deterministic Scheduling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Guarantee execution windows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Resource Isolation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Provides Control NPU from Planner NPU activities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Low Latency Interrupts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Critical for :</a:t>
            </a:r>
          </a:p>
          <a:p>
            <a:pPr marL="1257300" lvl="2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Motor control</a:t>
            </a:r>
          </a:p>
          <a:p>
            <a:pPr marL="1257300" lvl="2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Sensors</a:t>
            </a:r>
          </a:p>
          <a:p>
            <a:pPr marL="1257300" lvl="2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Functional 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47953C-A607-0E9A-9241-D6E957B4A096}"/>
              </a:ext>
            </a:extLst>
          </p:cNvPr>
          <p:cNvSpPr txBox="1"/>
          <p:nvPr/>
        </p:nvSpPr>
        <p:spPr>
          <a:xfrm>
            <a:off x="179470" y="946839"/>
            <a:ext cx="820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Real-Time Linux : Guarantees deterministic behavior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051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BCE60-7092-E3DA-44DA-502218E0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A1FAD18-48DC-E289-CA79-60CB0C25B8E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Software Architecture : Layer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D781A-37BA-97C8-23AC-44549C5236E2}"/>
              </a:ext>
            </a:extLst>
          </p:cNvPr>
          <p:cNvSpPr txBox="1"/>
          <p:nvPr/>
        </p:nvSpPr>
        <p:spPr>
          <a:xfrm>
            <a:off x="179471" y="1785386"/>
            <a:ext cx="5781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60060-DEB8-AC98-58F2-FE5428C9BE56}"/>
              </a:ext>
            </a:extLst>
          </p:cNvPr>
          <p:cNvSpPr txBox="1"/>
          <p:nvPr/>
        </p:nvSpPr>
        <p:spPr>
          <a:xfrm>
            <a:off x="225189" y="2182954"/>
            <a:ext cx="1153322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Cognitive Domain APIs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Reasoning Task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Policy Task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Control Task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Safety Task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Multi-NPU Placement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Queues for Planner, Action and Real-Time tasks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Unified Memory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Developer sees single pointer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Runtime handles behind the scenes</a:t>
            </a:r>
          </a:p>
          <a:p>
            <a:pPr marL="1257300" lvl="2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HBM</a:t>
            </a:r>
          </a:p>
          <a:p>
            <a:pPr marL="1257300" lvl="2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LPDDR</a:t>
            </a:r>
          </a:p>
          <a:p>
            <a:pPr marL="1257300" lvl="2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SRAM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8B3F59-57A6-A7BF-73E7-9842B0F2B4CB}"/>
              </a:ext>
            </a:extLst>
          </p:cNvPr>
          <p:cNvSpPr txBox="1"/>
          <p:nvPr/>
        </p:nvSpPr>
        <p:spPr>
          <a:xfrm>
            <a:off x="179470" y="946839"/>
            <a:ext cx="820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Robotics-Specific </a:t>
            </a:r>
            <a:r>
              <a:rPr lang="en-US" sz="2400" b="1" i="0" dirty="0" err="1">
                <a:effectLst/>
                <a:latin typeface="+mn-lt"/>
              </a:rPr>
              <a:t>oneAPI</a:t>
            </a:r>
            <a:r>
              <a:rPr lang="en-US" sz="2400" b="1" i="0" dirty="0">
                <a:effectLst/>
                <a:latin typeface="+mn-lt"/>
              </a:rPr>
              <a:t> Extensions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818474"/>
      </p:ext>
    </p:extLst>
  </p:cSld>
  <p:clrMapOvr>
    <a:masterClrMapping/>
  </p:clrMapOvr>
</p:sld>
</file>

<file path=ppt/theme/theme1.xml><?xml version="1.0" encoding="utf-8"?>
<a:theme xmlns:a="http://schemas.openxmlformats.org/drawingml/2006/main" name="FINAL_Intel Lunar Lake - Theme 2024">
  <a:themeElements>
    <a:clrScheme name="Intel Lunar Lake 2024">
      <a:dk1>
        <a:srgbClr val="000000"/>
      </a:dk1>
      <a:lt1>
        <a:srgbClr val="FFFFFF"/>
      </a:lt1>
      <a:dk2>
        <a:srgbClr val="505050"/>
      </a:dk2>
      <a:lt2>
        <a:srgbClr val="B9B9B9"/>
      </a:lt2>
      <a:accent1>
        <a:srgbClr val="192EBF"/>
      </a:accent1>
      <a:accent2>
        <a:srgbClr val="000F8F"/>
      </a:accent2>
      <a:accent3>
        <a:srgbClr val="000868"/>
      </a:accent3>
      <a:accent4>
        <a:srgbClr val="010E37"/>
      </a:accent4>
      <a:accent5>
        <a:srgbClr val="000000"/>
      </a:accent5>
      <a:accent6>
        <a:srgbClr val="00CAFF"/>
      </a:accent6>
      <a:hlink>
        <a:srgbClr val="00C7FD"/>
      </a:hlink>
      <a:folHlink>
        <a:srgbClr val="0068B5"/>
      </a:folHlink>
    </a:clrScheme>
    <a:fontScheme name="Intel2021">
      <a:majorFont>
        <a:latin typeface="IntelOne Display Light"/>
        <a:ea typeface="Helvetica Neue"/>
        <a:cs typeface="Helvetica Neue"/>
      </a:majorFont>
      <a:minorFont>
        <a:latin typeface="IntelOne Text Light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Classic Tint 2">
      <a:srgbClr val="76CEFF"/>
    </a:custClr>
    <a:custClr name="Energy Tint 2">
      <a:srgbClr val="B4F0FF"/>
    </a:custClr>
    <a:custClr name="Carbon Tint 2">
      <a:srgbClr val="E9E9E9"/>
    </a:custClr>
    <a:custClr name="Steel Tint 2">
      <a:srgbClr val="B9D6E5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Coral Tint 2">
      <a:srgbClr val="FFB6B9"/>
    </a:custClr>
    <a:custClr name="white">
      <a:srgbClr val="FFFFFF"/>
    </a:custClr>
    <a:custClr name="Classic Tint 1">
      <a:srgbClr val="00A3F6"/>
    </a:custClr>
    <a:custClr name="Energy Tint 1">
      <a:srgbClr val="7BDEFF"/>
    </a:custClr>
    <a:custClr name="Carbon Tint 1">
      <a:srgbClr val="AEAEAE"/>
    </a:custClr>
    <a:custClr name="Steel Tint 1">
      <a:srgbClr val="86B3CA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Coral Tint 1">
      <a:srgbClr val="FF848A"/>
    </a:custClr>
    <a:custClr name="Daisy Tint 1">
      <a:srgbClr val="FFE17A"/>
    </a:custClr>
    <a:custClr name="Classic">
      <a:srgbClr val="0068B5"/>
    </a:custClr>
    <a:custClr name="Energy">
      <a:srgbClr val="00C7FD"/>
    </a:custClr>
    <a:custClr name="Carbon">
      <a:srgbClr val="808080"/>
    </a:custClr>
    <a:custClr name="Steel">
      <a:srgbClr val="548FA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Coral">
      <a:srgbClr val="FF5662"/>
    </a:custClr>
    <a:custClr name="Daisy">
      <a:srgbClr val="FEC91B"/>
    </a:custClr>
    <a:custClr name="Classic Shade 1">
      <a:srgbClr val="004A86"/>
    </a:custClr>
    <a:custClr name="Energy Shade 1">
      <a:srgbClr val="0095CA"/>
    </a:custClr>
    <a:custClr name="Carbon Shade 1">
      <a:srgbClr val="525252"/>
    </a:custClr>
    <a:custClr name="Steel Shade 1">
      <a:srgbClr val="41728A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Coral Shade 1">
      <a:srgbClr val="C81326"/>
    </a:custClr>
    <a:custClr name="Daisy Shade 1">
      <a:srgbClr val="EDB200"/>
    </a:custClr>
    <a:custClr name="Classic Shade 2">
      <a:srgbClr val="00285A"/>
    </a:custClr>
    <a:custClr name="Energy Shade 2">
      <a:srgbClr val="005B85"/>
    </a:custClr>
    <a:custClr name="Carbon Shade 2">
      <a:srgbClr val="262626"/>
    </a:custClr>
    <a:custClr name="Steel Shade 2">
      <a:srgbClr val="183544"/>
    </a:custClr>
    <a:custClr name="black">
      <a:srgbClr val="000000"/>
    </a:custClr>
    <a:custClr name="Moss Shade 2">
      <a:srgbClr val="515A3D"/>
    </a:custClr>
    <a:custClr name="black">
      <a:srgbClr val="000000"/>
    </a:custClr>
    <a:custClr name="Cobalt Shade 2">
      <a:srgbClr val="000864"/>
    </a:custClr>
    <a:custClr name="black">
      <a:srgbClr val="000000"/>
    </a:custClr>
    <a:custClr name="Daisy Shade 2">
      <a:srgbClr val="C98F00"/>
    </a:custClr>
  </a:custClrLst>
  <a:extLst>
    <a:ext uri="{05A4C25C-085E-4340-85A3-A5531E510DB2}">
      <thm15:themeFamily xmlns:thm15="http://schemas.microsoft.com/office/thememl/2012/main" name="LNL 2024 Template Presentation_20240405.potx" id="{202D1DC5-FA2E-5349-BD04-BC70A010B30A}" vid="{E226EB62-2387-5149-AE0F-BF951FE5D4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11901</TotalTime>
  <Words>913</Words>
  <Application>Microsoft Office PowerPoint</Application>
  <PresentationFormat>Widescreen</PresentationFormat>
  <Paragraphs>276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Arial</vt:lpstr>
      <vt:lpstr>IntelOne Display AR Regular</vt:lpstr>
      <vt:lpstr>IntelOne Display Light</vt:lpstr>
      <vt:lpstr>IntelOne Display Medium</vt:lpstr>
      <vt:lpstr>IntelOne Display Regular</vt:lpstr>
      <vt:lpstr>IntelOne Text Light</vt:lpstr>
      <vt:lpstr>Segoe UI</vt:lpstr>
      <vt:lpstr>System Font Regular</vt:lpstr>
      <vt:lpstr>Wingdings</vt:lpstr>
      <vt:lpstr>FINAL_Intel Lunar Lake - Theme 2024</vt:lpstr>
      <vt:lpstr>PowerPoint Presentation</vt:lpstr>
      <vt:lpstr>Robotics is Entering the Physical AI Era</vt:lpstr>
      <vt:lpstr>The Opportunity</vt:lpstr>
      <vt:lpstr> 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Crews, Darren S</dc:creator>
  <cp:lastModifiedBy>Raha, Arnab</cp:lastModifiedBy>
  <cp:revision>3</cp:revision>
  <dcterms:modified xsi:type="dcterms:W3CDTF">2026-10-15T03:18:36Z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